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ef8b2a22a74edf" /><Relationship Type="http://schemas.openxmlformats.org/officeDocument/2006/relationships/extended-properties" Target="/docProps/app.xml" Id="R6edf92c95cdf46d4" /><Relationship Type="http://schemas.openxmlformats.org/officeDocument/2006/relationships/officeDocument" Target="/ppt/presentation.xml" Id="R3f9d92ba743444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2c1e4593e54640"/>
  </p:sldMasterIdLst>
  <p:notesMasterIdLst>
    <p:notesMasterId xmlns:r="http://schemas.openxmlformats.org/officeDocument/2006/relationships" r:id="Ra40f8871f00d4067"/>
  </p:notesMasterIdLst>
  <p:sldIdLst>
    <p:sldId xmlns:r="http://schemas.openxmlformats.org/officeDocument/2006/relationships" id="256" r:id="R226e329bce0a48e8"/>
    <p:sldId xmlns:r="http://schemas.openxmlformats.org/officeDocument/2006/relationships" id="257" r:id="R623fedd503b741f7"/>
    <p:sldId xmlns:r="http://schemas.openxmlformats.org/officeDocument/2006/relationships" id="258" r:id="R4610a2665ee54249"/>
    <p:sldId xmlns:r="http://schemas.openxmlformats.org/officeDocument/2006/relationships" id="259" r:id="R8670e3c8a24d4793"/>
    <p:sldId xmlns:r="http://schemas.openxmlformats.org/officeDocument/2006/relationships" id="260" r:id="Rc3934c80812b4537"/>
    <p:sldId xmlns:r="http://schemas.openxmlformats.org/officeDocument/2006/relationships" id="261" r:id="Rec9ab30632d94bb1"/>
    <p:sldId xmlns:r="http://schemas.openxmlformats.org/officeDocument/2006/relationships" id="262" r:id="R05af99db17344e51"/>
    <p:sldId xmlns:r="http://schemas.openxmlformats.org/officeDocument/2006/relationships" id="263" r:id="R815b64cfdbb04ae0"/>
    <p:sldId xmlns:r="http://schemas.openxmlformats.org/officeDocument/2006/relationships" id="264" r:id="R3b0d405a36384e8e"/>
    <p:sldId xmlns:r="http://schemas.openxmlformats.org/officeDocument/2006/relationships" id="265" r:id="Raf9ad52a65374360"/>
    <p:sldId xmlns:r="http://schemas.openxmlformats.org/officeDocument/2006/relationships" id="266" r:id="Rdd6989def2c749b9"/>
    <p:sldId xmlns:r="http://schemas.openxmlformats.org/officeDocument/2006/relationships" id="267" r:id="Rb249786dcf66482e"/>
    <p:sldId xmlns:r="http://schemas.openxmlformats.org/officeDocument/2006/relationships" id="268" r:id="Rc7a64b79754749d7"/>
    <p:sldId xmlns:r="http://schemas.openxmlformats.org/officeDocument/2006/relationships" id="269" r:id="R4b8c2c7fa99344a8"/>
    <p:sldId xmlns:r="http://schemas.openxmlformats.org/officeDocument/2006/relationships" id="270" r:id="Rbb2817f9705f47cf"/>
    <p:sldId xmlns:r="http://schemas.openxmlformats.org/officeDocument/2006/relationships" id="271" r:id="Rb1bfcc536a734e37"/>
    <p:sldId xmlns:r="http://schemas.openxmlformats.org/officeDocument/2006/relationships" id="272" r:id="R7c5495dcffa74202"/>
    <p:sldId xmlns:r="http://schemas.openxmlformats.org/officeDocument/2006/relationships" id="273" r:id="R8c7d12997ce7433e"/>
    <p:sldId xmlns:r="http://schemas.openxmlformats.org/officeDocument/2006/relationships" id="274" r:id="R320bbc7854af4704"/>
    <p:sldId xmlns:r="http://schemas.openxmlformats.org/officeDocument/2006/relationships" id="275" r:id="R242c2dfe5b234ea8"/>
    <p:sldId xmlns:r="http://schemas.openxmlformats.org/officeDocument/2006/relationships" id="276" r:id="R3e0dff2a124b4e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1f19d027584432" /><Relationship Type="http://schemas.openxmlformats.org/officeDocument/2006/relationships/slideMaster" Target="/ppt/slideMasters/slideMaster1.xml" Id="R3e2c1e4593e54640" /><Relationship Type="http://schemas.openxmlformats.org/officeDocument/2006/relationships/notesMaster" Target="/ppt/notesMasters/notesMaster1.xml" Id="Ra40f8871f00d4067" /><Relationship Type="http://schemas.openxmlformats.org/officeDocument/2006/relationships/presProps" Target="/ppt/presProps.xml" Id="R122a0bb716584120" /><Relationship Type="http://schemas.openxmlformats.org/officeDocument/2006/relationships/tableStyles" Target="/ppt/tableStyles.xml" Id="R919960f02637422c" /><Relationship Type="http://schemas.openxmlformats.org/officeDocument/2006/relationships/slide" Target="/ppt/slides/slide1.xml" Id="R226e329bce0a48e8" /><Relationship Type="http://schemas.openxmlformats.org/officeDocument/2006/relationships/slide" Target="/ppt/slides/slide2.xml" Id="R623fedd503b741f7" /><Relationship Type="http://schemas.openxmlformats.org/officeDocument/2006/relationships/slide" Target="/ppt/slides/slide3.xml" Id="R4610a2665ee54249" /><Relationship Type="http://schemas.openxmlformats.org/officeDocument/2006/relationships/slide" Target="/ppt/slides/slide4.xml" Id="R8670e3c8a24d4793" /><Relationship Type="http://schemas.openxmlformats.org/officeDocument/2006/relationships/slide" Target="/ppt/slides/slide5.xml" Id="Rc3934c80812b4537" /><Relationship Type="http://schemas.openxmlformats.org/officeDocument/2006/relationships/slide" Target="/ppt/slides/slide6.xml" Id="Rec9ab30632d94bb1" /><Relationship Type="http://schemas.openxmlformats.org/officeDocument/2006/relationships/slide" Target="/ppt/slides/slide7.xml" Id="R05af99db17344e51" /><Relationship Type="http://schemas.openxmlformats.org/officeDocument/2006/relationships/slide" Target="/ppt/slides/slide8.xml" Id="R815b64cfdbb04ae0" /><Relationship Type="http://schemas.openxmlformats.org/officeDocument/2006/relationships/slide" Target="/ppt/slides/slide9.xml" Id="R3b0d405a36384e8e" /><Relationship Type="http://schemas.openxmlformats.org/officeDocument/2006/relationships/slide" Target="/ppt/slides/slide10.xml" Id="Raf9ad52a65374360" /><Relationship Type="http://schemas.openxmlformats.org/officeDocument/2006/relationships/slide" Target="/ppt/slides/slide11.xml" Id="Rdd6989def2c749b9" /><Relationship Type="http://schemas.openxmlformats.org/officeDocument/2006/relationships/slide" Target="/ppt/slides/slide12.xml" Id="Rb249786dcf66482e" /><Relationship Type="http://schemas.openxmlformats.org/officeDocument/2006/relationships/slide" Target="/ppt/slides/slide13.xml" Id="Rc7a64b79754749d7" /><Relationship Type="http://schemas.openxmlformats.org/officeDocument/2006/relationships/slide" Target="/ppt/slides/slide14.xml" Id="R4b8c2c7fa99344a8" /><Relationship Type="http://schemas.openxmlformats.org/officeDocument/2006/relationships/slide" Target="/ppt/slides/slide15.xml" Id="Rbb2817f9705f47cf" /><Relationship Type="http://schemas.openxmlformats.org/officeDocument/2006/relationships/slide" Target="/ppt/slides/slide16.xml" Id="Rb1bfcc536a734e37" /><Relationship Type="http://schemas.openxmlformats.org/officeDocument/2006/relationships/slide" Target="/ppt/slides/slide17.xml" Id="R7c5495dcffa74202" /><Relationship Type="http://schemas.openxmlformats.org/officeDocument/2006/relationships/slide" Target="/ppt/slides/slide18.xml" Id="R8c7d12997ce7433e" /><Relationship Type="http://schemas.openxmlformats.org/officeDocument/2006/relationships/slide" Target="/ppt/slides/slide19.xml" Id="R320bbc7854af4704" /><Relationship Type="http://schemas.openxmlformats.org/officeDocument/2006/relationships/slide" Target="/ppt/slides/slide20.xml" Id="R242c2dfe5b234ea8" /><Relationship Type="http://schemas.openxmlformats.org/officeDocument/2006/relationships/slide" Target="/ppt/slides/slide21.xml" Id="R3e0dff2a124b4e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ea9722dddc4d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23606334f344b6" /><Relationship Type="http://schemas.openxmlformats.org/officeDocument/2006/relationships/notesMaster" Target="/ppt/notesMasters/notesMaster1.xml" Id="Rfecd2e83477048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e38aa6245b4acc" /><Relationship Type="http://schemas.openxmlformats.org/officeDocument/2006/relationships/notesMaster" Target="/ppt/notesMasters/notesMaster1.xml" Id="R2a448d8f80eb4d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9d7471165444fb" /><Relationship Type="http://schemas.openxmlformats.org/officeDocument/2006/relationships/notesMaster" Target="/ppt/notesMasters/notesMaster1.xml" Id="R4042c45778ed45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5e8547c2a44830" /><Relationship Type="http://schemas.openxmlformats.org/officeDocument/2006/relationships/notesMaster" Target="/ppt/notesMasters/notesMaster1.xml" Id="Ree460e20e92b45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89108a90634c31" /><Relationship Type="http://schemas.openxmlformats.org/officeDocument/2006/relationships/notesMaster" Target="/ppt/notesMasters/notesMaster1.xml" Id="Rf47d3ef6cad143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cf93f8c5df4743" /><Relationship Type="http://schemas.openxmlformats.org/officeDocument/2006/relationships/notesMaster" Target="/ppt/notesMasters/notesMaster1.xml" Id="Rf21a74c45fa04f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35d9c5ec754109" /><Relationship Type="http://schemas.openxmlformats.org/officeDocument/2006/relationships/notesMaster" Target="/ppt/notesMasters/notesMaster1.xml" Id="R58b7b307055e4e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57136d5a4f4a53" /><Relationship Type="http://schemas.openxmlformats.org/officeDocument/2006/relationships/notesMaster" Target="/ppt/notesMasters/notesMaster1.xml" Id="Re5c06edaf3e94d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2dc9210c484272" /><Relationship Type="http://schemas.openxmlformats.org/officeDocument/2006/relationships/notesMaster" Target="/ppt/notesMasters/notesMaster1.xml" Id="R0bcc99a50f064a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3198d11b344454" /><Relationship Type="http://schemas.openxmlformats.org/officeDocument/2006/relationships/notesMaster" Target="/ppt/notesMasters/notesMaster1.xml" Id="Rb467cd60c4db4e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efaaf651dd47a9" /><Relationship Type="http://schemas.openxmlformats.org/officeDocument/2006/relationships/notesMaster" Target="/ppt/notesMasters/notesMaster1.xml" Id="R15c3333c4a4c42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75e4abca8141be" /><Relationship Type="http://schemas.openxmlformats.org/officeDocument/2006/relationships/notesMaster" Target="/ppt/notesMasters/notesMaster1.xml" Id="R463819b57c0341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b4e7f6bb4744b2" /><Relationship Type="http://schemas.openxmlformats.org/officeDocument/2006/relationships/notesMaster" Target="/ppt/notesMasters/notesMaster1.xml" Id="R968c1df8de9f42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731f11d26d4435" /><Relationship Type="http://schemas.openxmlformats.org/officeDocument/2006/relationships/notesMaster" Target="/ppt/notesMasters/notesMaster1.xml" Id="R8f7a435649a74e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09574457644052" /><Relationship Type="http://schemas.openxmlformats.org/officeDocument/2006/relationships/notesMaster" Target="/ppt/notesMasters/notesMaster1.xml" Id="Rcb6fc185e14e43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5b8b50698a41c8" /><Relationship Type="http://schemas.openxmlformats.org/officeDocument/2006/relationships/notesMaster" Target="/ppt/notesMasters/notesMaster1.xml" Id="Ra293e2c1c6794a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e276df2ed164216" /><Relationship Type="http://schemas.openxmlformats.org/officeDocument/2006/relationships/notesMaster" Target="/ppt/notesMasters/notesMaster1.xml" Id="Re52283fc562c42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f81037ce9048c7" /><Relationship Type="http://schemas.openxmlformats.org/officeDocument/2006/relationships/notesMaster" Target="/ppt/notesMasters/notesMaster1.xml" Id="R27f9832bbec8452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69664b21e1246ad" /><Relationship Type="http://schemas.openxmlformats.org/officeDocument/2006/relationships/notesMaster" Target="/ppt/notesMasters/notesMaster1.xml" Id="R59813e4436814b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3170f3b8edc4cfb" /><Relationship Type="http://schemas.openxmlformats.org/officeDocument/2006/relationships/notesMaster" Target="/ppt/notesMasters/notesMaster1.xml" Id="R70f0ac6695334d1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f2741b1c027415a" /><Relationship Type="http://schemas.openxmlformats.org/officeDocument/2006/relationships/notesMaster" Target="/ppt/notesMasters/notesMaster1.xml" Id="R2045f54a860b4d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Open with the full Agent Loop and the 90-minute promise.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“Today we’ll follow one coding-agent repair from its first checks, through testing, to an improved version. Then we’ll decide where the agent can act and where a person still needs to review.”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“This is guided and follow-along. No Python knowledge is required. The code is there for technical questions, not as a coding exercise.”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“First, a quick introduction. Then we’ll start with the bug.”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Introduce the facilitator without delaying the business story.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“I’m Lorenzo. I work with teams building and evaluating AI applications at Weights &amp; Biases. Today I’ll connect the business requirement to evidence we can inspect.”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“Please bring business and technical questions. This is follow-along: I’ll move between the slides, notebook, and Weave. You can click with me or stay with the shared screen.”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 — Point to the GitHub and LinkedIn links. Invite questions throughout.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“Let’s start with the bug we need PatchPilot to repair.”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State the bug, its business effect, and the goal before introducing the tools.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“We found a bug in BeeVerse’s bulk-close workflow. It accepts the ticket numbers in a request, but it never confirms that each ticket belongs to the customer making the request.”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“That means a Honeycomb request could close Pollen’s ticket by mistake. The original checks can still pass, so the team could approve a repair that is not safe.”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“Our goal is to prove that PatchPilot’s repair keeps customers separate. We will inspect one run, turn the risk into repeatable tests, compare two versions, and decide when a person should review.”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“Let’s look at the exact Honeycomb request that exposes the bug.”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Introduce the problem as a simple customer story.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“BeeVerse runs support-ticket software for other companies. Two of those companies are Honeycomb Books and Pollen Outfitters.”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“Before a seasonal sale, Honeycomb asks BeeVerse to close two tickets: HB-101 and PO-209. The catch is that PO-209 belongs to Pollen. If the software closes both tickets just because their numbers were supplied, Honeycomb’s request changes another customer’s data.”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“PatchPilot is the coding agent repairing that software. Our job today is to inspect its repair, test it, improve it, and decide when a person should review its work.”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ASK — “If three checks passed, would that be enough for you to trust the repair?”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“Let’s look at exactly what PatchPilot did.”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Define the AI agent and distinguish the prepared application versions from the live judge.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“An AI agent is an application that can use a model, instructions, and tools to complete a task. A production coding agent could choose tools, inspect files, propose edits, and run tests.”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“PatchPilot Version 1 and Version 2 are prepared examples today. The live AI in this guided workshop is the LLM judge, called through W&amp;B Serverless Inference.”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“We fixed the application layer so we can clearly see what tracing and evaluation add.”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“This workflow fits a broader industry pattern: the AI Loop.”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https://docs.wandb.ai/weave/concepts/what-is-weave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Place the existing workshop inside CoreWeave's official AI Loop without changing the workshop stages.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“CoreWeave describes the production lifecycle as Run, Observe, Curate, Evaluate, Improve, and repeat. Our workshop maps directly onto that loop.”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MAP — “Run is prepared PatchPilot V1. Observe is the trace and annotation. Curate is the four-case dataset. Evaluate is the scorer set and evaluation runs. Improve is PatchPilot V2. Then we compare and decide before repeating.”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“Weave is the evidence layer connecting those stages.”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https://coreweave.com/blog/the-ai-loop-launch-day-is-day-one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Define Weave before showing the live UI and make Serverless Inference's role precise.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“W&amp;B Weave is an observability and evaluation platform for AI applications. The @weave.op decorator records versioned operations as Calls. Those Calls form traces. We version datasets, run scorers, create evaluation runs, and compare versions.”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“W&amp;B Serverless Inference enters this picture only through the live LLM-judge scorer.”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“Let’s start with the smallest useful unit of evidence: one recorded run.”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https://docs.wandb.ai/weave/concepts/what-is-weave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Supplied reference: Weave Presentation.pdf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Give the room a short plain-language reference before the first Weave stop.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“You do not need to memorize this slide. Trace means one complete run. A Call is one recorded step. A dataset is the cases we save. A scorer grades a result. An evaluation is the saved test setup, and an evaluation run is one use of that setup.”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“The LLM judge is one scorer. It reads the evidence and applies the rubric, which is simply the written rules.”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“I’ll define each term again when we use it. We start with one run: the trace.”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Define Op, Call, Trace, inputs, outputs, and feedback using official Weave terminology.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“An Op is a versioned function tracked by Weave. A Call is one recorded execution of that Op. A trace is the end-to-end record of one application run and the Calls inside it.”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“The trace also preserves inputs, outputs, timing, errors, and feedback. An annotation is structured human feedback attached to a Call.”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 — Move to the notebook and show @weave.op briefly. Explain that it records the function; it does not change the business logic.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“Now let’s read Version 1 before we judge it.”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https://docs.wandb.ai/weave/guides/tracking/trace-tree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https://docs.wandb.ai/weave/guides/tracking/feedback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Prepare the room for Weave stop 1 and the annotation.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 — In the notebook, run PatchPilot Version 1 and open its Weave trace. Find the request, child Calls, ticket lookup, and three recorded checks.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“The first checks passed. The trace also shows the missing check: Version 1 looks up tickets by number but never checks which customer owns them.”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PARTICIPANTS — Add the Customer isolation annotation to the root Call.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ASK — “What can this trace tell us, and what still needs to be tested across more cases?”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“The trace gave us a specific risk. Now we turn it into a case we can run again.”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https://docs.wandb.ai/weave/guides/tracking/trace-tree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https://docs.wandb.ai/weave/guides/tracking/feedback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Show how an observed trace risk becomes a versioned evaluation case.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“A dataset is a versioned collection of test examples. A useful row separates the request from the expected behavior, then records source and risk metadata.”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“Historical cases preserve real operating context. Synthetic cases deliberately probe rare but costly boundaries before a customer incident.”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“Our dataset has four rows so one fix cannot hide a regression elsewhere.”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https://docs.wandb.ai/weave/guides/core-types/datasets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Explain the four cases before publishing them to Weave.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“Normal checks the ordinary workflow. Mixed customer probes the isolation boundary. Retry checks duplicate effects. Missing evidence tests whether uncertainty still routes to a person.”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 — In the notebook, choose the source strategy and mixed-customer shape, then publish the four-row dataset. In Weave, show request, expected_behavior, source_type, risk, and the versioned dataset reference.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ASK — “Who should contribute cases in your organization besides engineering?”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“We have cases. Now we need focused questions for every output.”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https://docs.wandb.ai/weave/guides/core-types/datasets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Introduce all four scorers and state exactly where AI is used.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“A scorer is logic that examines an output and returns metrics. We have three deterministic Python scorers: visible checks, customer isolation, and retry safety. We also have one class-based scorer that calls a live LLM judge.”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“The prepared PatchPilot outputs are fixed. The live judge is the model-powered, potentially variable part of this guided workflow.”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“Exact rules and model judgment are complementary; they answer different questions.”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https://docs.wandb.ai/weave/guides/evaluation/scorers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Separate exact scorers, the LLM judge, and human review.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“An exact scorer applies a direct rule. Give it the same evidence and it gives the same answer. That is useful for facts and safety requirements.”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“The LLM judge reads the same evidence, applies written rules, and explains its verdict. It is useful when context matters, and its answer may vary.”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“Human review is separate. Neither kind of scorer decides on its own whether the agent can act.”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“To compare the two PatchPilot versions fairly, we keep the test setup the same.”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https://docs.wandb.ai/weave/guides/evaluation/scorers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Define evaluation and evaluation run, then keep the comparison fair.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“An evaluation is the saved test setup: the dataset, scorers, and configuration. An evaluation run is one time we use that setup against an application version.”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“We keep the four cases, four scorers, rubric, judge model, and review rules the same. The only thing we change is PatchPilot Version 1 versus Version 2.”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 — In the notebook, show the selected scorers, rubric, weave.Scorer, and weave.Evaluation code. Keep the frozen-comparison control selected.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“First we run Version 1 and make it our baseline.”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>- https://docs.wandb.ai/weave/guides/core-types/evaluations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https://docs.wandb.ai/weave/guides/evaluation/scorers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Create and inspect the Version 1 baseline run.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 — Run the Version 1 evaluation. In Weave, open the mixed-customer row and follow dataset input → V1 output → deterministic scorer Call → LLM-judge Call → criterion reasons. Set V1 as Baseline.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“Normal and retry pass. Mixed customer blocks because Pollen Outfitters changed in a Honeycomb request. Missing evidence stays in review.”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“Baseline means reference run for comparison—not a production recommendation.”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 WINDOW — “If you disagree, is the problem the application output, evidence, Python scorer, rubric, or judge interpretation?”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“We found a specific failure. Now we can make a specific change.”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https://docs.wandb.ai/weave/guides/core-types/evaluations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https://docs.wandb.ai/weave/guides/tools/comparison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Make the one intended application change visually obvious.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“These are two development versions of the same PatchPilot application. Version 1 selects ticket IDs. Version 2 adds the requesting-customer constraint.”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 — In the notebook, show the prepared diff and the application properties stored on weave.Model. Clarify that the separate foundation model openai/gpt-oss-20b is used by the judge.”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“We changed the application—not the evaluation setup—to address the trace finding.”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ASK — “In your system, what might change here: prompt, retrieval, model, tool, skill, code, or policy?”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“Whatever changes, run the same evaluation again.”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Run Version 2 while reinforcing what stays fixed.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 — Click Run the Version 2 evaluation with the same setup.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WHILE IT RUNS — “The dataset fingerprint, three Python scorers, judge rubric, judge model, and policy remain fixed. This creates new application and scorer Calls.”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“The deterministic results should repeat. The LLM judge is live, so its wording or verdict may vary and should be inspected.”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“Now the comparison can tell us whether the change fixed the intended risk without introducing a regression.”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https://docs.wandb.ai/weave/guides/core-types/evaluations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Compare case-level evidence and the live Weave view.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 — Open the comparison with V1 as Baseline and V2 as candidate. Show application properties, fixed evaluation properties, the mixed-customer case, normal and retry, missing evidence, and the traced judge Call.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“The intended case moved from block to pass. The normal and retry cases stayed safe. Missing evidence still requires a person.”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“We do not hardcode a guaranteed judge verdict. If the model differs, inspect the evidence and reasons.”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“This is enough evidence to make a narrower operating policy.”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https://docs.wandb.ai/weave/guides/tools/comparison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Workshop-owned screenshot: PatchPilot Weave comparison view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Turn the evidence into a practical human-review rule.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“The point is not to put a person in front of every action. Clear cases with enough evidence may proceed automatically. Missing evidence goes to a person. A failed safety rule blocks the action.”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 — In the notebook, save the final decision, confidence, approved scope, and reviewer. Open the saved review Call and, if time permits, return to the original annotated trace.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SUGGESTED INTERPRETATION — “Version 2 may proceed for well-understood, single-customer cases. Missing evidence still requires human review.”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— “Let’s close by returning to the full loop.”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https://docs.wandb.ai/weave/guides/tracking/feedback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— Close with a reusable mental model and the official Fully Connected invitation.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SAY — “A trace shows what happened in one run. A dataset saves the cases we care about. Scorers turn expectations into measurements. Evaluation runs show whether a change helped. People decide where the agent can act.”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CLOSE — “That is the Agent Loop: observe the work, test the risks, compare the change, and use the evidence to decide.”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PLUG — “If you want to keep exploring how teams build and operate AI in production, Fully Connected 2026 is September 29 through October 1 at Moscone South in San Francisco.”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MASTERCLASS — Replace this slide with the standardized MasterClass closer when it arrives, or place that slide immediately after this one.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https://www.coreweave.com/fully-connected-2026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7b302b5c942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66ba7b61646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396734a0a46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e774a0da04a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ce8e340ff4c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33f4b40874bd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b71648c2a495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a97809115453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173eeabc94f6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c63bbdcd14e7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5e2be21eb4056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CECA929-9E86-44D4-B59E-6A9B19E5E6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30480"/>
            <a:ext cx="7772040" cy="146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5284ED8-D554-4F56-8C77-0B9E43C98867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2E970D4-46EB-4EFC-B93F-CCCA8882A4C9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896E836-959B-4C47-AF49-9C0BF8DAAB5C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1F4CE880-9F07-41D0-BCCE-27D8826AED7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vertTx" preserve="1">
  <p:cSld name="Title and Vertical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5881DD2-2C07-4EC7-91B5-60D5F0076A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935EE4F-CA51-4D63-8C4D-BA79262357A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35FB2D2-1CE6-440D-AEA1-3DB243C047F0}"/>
              </a:ext>
            </a:extLst>
          </p:cNvPr>
          <p:cNvSpPr>
            <a:spLocks xmlns:a="http://schemas.openxmlformats.org/drawingml/2006/main" noGrp="1"/>
          </p:cNvSpPr>
          <p:nvPr>
            <p:ph type="dt" idx="4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AB5059B-1217-4587-9EEC-2F0FD6BFCC9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E1C162C6-5EDE-4190-B253-7959787B09D4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D312E28B-878B-4C54-8DD0-886059FC23CB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vertTitleAndTx" preserve="1">
  <p:cSld name="Vertical Title and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86242B1-12B7-46A3-90E6-83054F7E1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80"/>
            <a:ext cx="2057040" cy="585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DFE6852-B2A7-44F6-92D6-E9D7EBC3DD0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74680"/>
            <a:ext cx="6019560" cy="585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0BDB52C-4463-4BDA-AAB0-620B2C53D3DE}"/>
              </a:ext>
            </a:extLst>
          </p:cNvPr>
          <p:cNvSpPr>
            <a:spLocks xmlns:a="http://schemas.openxmlformats.org/drawingml/2006/main" noGrp="1"/>
          </p:cNvSpPr>
          <p:nvPr>
            <p:ph type="dt" idx="7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FE67711-19D9-4AD9-B5E5-2D2260A49821}"/>
              </a:ext>
            </a:extLst>
          </p:cNvPr>
          <p:cNvSpPr>
            <a:spLocks xmlns:a="http://schemas.openxmlformats.org/drawingml/2006/main" noGrp="1"/>
          </p:cNvSpPr>
          <p:nvPr>
            <p:ph type="ftr" idx="8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AAD4036F-7A32-45B3-A282-8D6C1FF1C2FB}"/>
              </a:ext>
            </a:extLst>
          </p:cNvPr>
          <p:cNvSpPr>
            <a:spLocks xmlns:a="http://schemas.openxmlformats.org/drawingml/2006/main" noGrp="1"/>
          </p:cNvSpPr>
          <p:nvPr>
            <p:ph type="sldNum" idx="9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57A91074-3165-4802-821A-F4BE89426F1D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and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7E0A3F8-3C38-46AF-8C7B-6EB6238D50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685DBC4-B6D5-485F-8FC8-0719538838D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9DDF1AC-A79B-4156-A0FC-563C856CAB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145A6442-10A3-4FF0-9BD5-B9563679FA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6CBA901-158D-48DA-B651-0FF31F00BB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89CCE056-92CC-4F23-B9C1-FE029201F89E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8753EB8-F3CB-4D3F-A212-C47D871D74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160" y="4406760"/>
            <a:ext cx="7772040" cy="13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4000" b="1" u="none" cap="all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4000" b="1" u="none" cap="all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000" b="1" u="none" cap="all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0DD431B-4E6A-4FBA-9DC3-1BA68E914F5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2160" y="2906640"/>
            <a:ext cx="7772040" cy="149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000" b="0" u="none">
              <a:solidFill>
                <a:schemeClr val="dk1">
                  <a:tint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13F20D7-8DE6-4DC2-A76E-535A73776A20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620E15C-CF7C-40EB-8716-BDB127DBF316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A48BD1FA-7AF6-4ADD-A15C-42AB1ABFC333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9663790F-3DE2-4946-AAB1-34C1104CC355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 preserve="1">
  <p:cSld name="Two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195CE89-F00A-4663-934B-05FC7D125F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B0DA68F-0B5B-4966-ACB5-93D3280490D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F949FC3-E4F2-4408-B2E0-D1924E704F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832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2D33FB0-CB92-47B3-94EA-B6F908FA00C7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2F305578-04D8-4194-A56B-EDF14C5990C4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40BFF4F1-7EF4-4725-A4FD-F9A6D5CD8C3B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6F46994C-EF41-4AFF-8DDF-137649DE7166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Comparis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F39A223-3A7F-4EFF-A844-70A5C9AB52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776AEBA-57F3-4262-9284-60CBEA6A1D9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535040"/>
            <a:ext cx="403992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D729033-0074-4683-BF75-84C62F465DA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174760"/>
            <a:ext cx="403992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20AE09E-A2A9-47F3-80A2-AB3D1DEC22C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1535040"/>
            <a:ext cx="404136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B5742C7-0751-434A-BBB3-C88F17287DD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2174760"/>
            <a:ext cx="404136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BAA077D6-BEFA-4D64-844C-216A06F5FCE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29E22802-09ED-41DE-8D57-378DCD253D99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E06A8BD4-174E-48C4-A119-F286EDC265F4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799771B0-ACEA-43EE-B201-74CAC6FFF720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 preserve="1">
  <p:cSld name="Title Onl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0BC96FD-926A-47CF-B3E2-478FBE79D4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FCBEE0A-A7A2-4769-B8BB-C0F799E1260C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3594445-BE1F-44EF-81F8-D2EA0A665DAD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68EF42C-B27F-4E5D-BA29-4B694BD493E8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6BEC1018-7F37-4968-A8A7-85455D1BCBB6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2FC0447-7E98-4AE8-AA81-37F74AF413BE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F371025-75AF-4260-AD44-DD962FDC6FC8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C9C446C-2F84-4E7F-AE40-7F802ED29F7D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47E78B40-6436-4340-BDC2-775F02B80439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CB90C1C5-3BFC-4E8D-863B-D5A5486E5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08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 defTabSz="457200"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9CBBECEA-758A-43F7-B317-16A6F4388F8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08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Content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2A6D12C-5B32-4C3A-BEE3-DA531A8BC1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2880"/>
            <a:ext cx="3007800" cy="1161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1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09081EC-BA15-4DE4-ABC4-195214E1F14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575160" y="272880"/>
            <a:ext cx="5111280" cy="585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C450EF6-649B-4457-A204-01DE6E92C92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434960"/>
            <a:ext cx="3007800" cy="46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D726FD6-84CF-4BB6-BD2F-F077586637B6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820416EF-D284-436A-98BB-17E3032C64EB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80C6A102-4ADA-4505-AD61-3ED2405732DB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32E32E7D-6FF6-41EE-981E-68441D4FA8F2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Picture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327DE34-AB83-4B6A-9E98-8C897CC1A0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440" y="4800600"/>
            <a:ext cx="5486040" cy="56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1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60237E1-9495-473D-9587-1D07ECCA220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612720"/>
            <a:ext cx="5486040" cy="411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30F64FE-2EC0-40AB-BF2E-9527A99B856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5367240"/>
            <a:ext cx="5486040" cy="80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1EC6AA1-1604-4C64-A586-48A528FB06BC}"/>
              </a:ext>
            </a:extLst>
          </p:cNvPr>
          <p:cNvSpPr>
            <a:spLocks xmlns:a="http://schemas.openxmlformats.org/drawingml/2006/main" noGrp="1"/>
          </p:cNvSpPr>
          <p:nvPr>
            <p:ph type="dt" idx="31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F8BE2F20-19B6-440A-BEC9-4F4DE36FDB9A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676C3944-98C0-4333-89A8-CE8041E7690E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92CC18C5-7C03-4A40-8C1F-4B8AF051D0C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b43e6909b14456" /><Relationship Type="http://schemas.openxmlformats.org/officeDocument/2006/relationships/slideLayout" Target="/ppt/slideLayouts/slideLayout1.xml" Id="Re2d22fd4fd364f64" /><Relationship Type="http://schemas.openxmlformats.org/officeDocument/2006/relationships/slideLayout" Target="/ppt/slideLayouts/slideLayout2.xml" Id="Rb00b8d40fca9489e" /><Relationship Type="http://schemas.openxmlformats.org/officeDocument/2006/relationships/slideLayout" Target="/ppt/slideLayouts/slideLayout3.xml" Id="Re9a4d322a3b849e1" /><Relationship Type="http://schemas.openxmlformats.org/officeDocument/2006/relationships/slideLayout" Target="/ppt/slideLayouts/slideLayout4.xml" Id="Rf0e7631b650c469e" /><Relationship Type="http://schemas.openxmlformats.org/officeDocument/2006/relationships/slideLayout" Target="/ppt/slideLayouts/slideLayout5.xml" Id="Rd740ea5466874325" /><Relationship Type="http://schemas.openxmlformats.org/officeDocument/2006/relationships/slideLayout" Target="/ppt/slideLayouts/slideLayout6.xml" Id="Rc0f678153df6457b" /><Relationship Type="http://schemas.openxmlformats.org/officeDocument/2006/relationships/slideLayout" Target="/ppt/slideLayouts/slideLayout7.xml" Id="Rd4116316b88e45de" /><Relationship Type="http://schemas.openxmlformats.org/officeDocument/2006/relationships/slideLayout" Target="/ppt/slideLayouts/slideLayout8.xml" Id="R525884ea5eba480e" /><Relationship Type="http://schemas.openxmlformats.org/officeDocument/2006/relationships/slideLayout" Target="/ppt/slideLayouts/slideLayout9.xml" Id="R939ff3dbeeea495a" /><Relationship Type="http://schemas.openxmlformats.org/officeDocument/2006/relationships/slideLayout" Target="/ppt/slideLayouts/slideLayout10.xml" Id="Rd05d96b647a748f4" /><Relationship Type="http://schemas.openxmlformats.org/officeDocument/2006/relationships/slideLayout" Target="/ppt/slideLayouts/slideLayout11.xml" Id="R4a375970a91a414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d22fd4fd364f64"/>
    <p:sldLayoutId xmlns:r="http://schemas.openxmlformats.org/officeDocument/2006/relationships" id="2147483650" r:id="Rb00b8d40fca9489e"/>
    <p:sldLayoutId xmlns:r="http://schemas.openxmlformats.org/officeDocument/2006/relationships" id="2147483651" r:id="Re9a4d322a3b849e1"/>
    <p:sldLayoutId xmlns:r="http://schemas.openxmlformats.org/officeDocument/2006/relationships" id="2147483652" r:id="Rf0e7631b650c469e"/>
    <p:sldLayoutId xmlns:r="http://schemas.openxmlformats.org/officeDocument/2006/relationships" id="2147483653" r:id="Rd740ea5466874325"/>
    <p:sldLayoutId xmlns:r="http://schemas.openxmlformats.org/officeDocument/2006/relationships" id="2147483654" r:id="Rc0f678153df6457b"/>
    <p:sldLayoutId xmlns:r="http://schemas.openxmlformats.org/officeDocument/2006/relationships" id="2147483655" r:id="Rd4116316b88e45de"/>
    <p:sldLayoutId xmlns:r="http://schemas.openxmlformats.org/officeDocument/2006/relationships" id="2147483656" r:id="R525884ea5eba480e"/>
    <p:sldLayoutId xmlns:r="http://schemas.openxmlformats.org/officeDocument/2006/relationships" id="2147483657" r:id="R939ff3dbeeea495a"/>
    <p:sldLayoutId xmlns:r="http://schemas.openxmlformats.org/officeDocument/2006/relationships" id="2147483658" r:id="Rd05d96b647a748f4"/>
    <p:sldLayoutId xmlns:r="http://schemas.openxmlformats.org/officeDocument/2006/relationships" id="2147483659" r:id="R4a375970a91a4146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ed35cf7df6f4f36" /><Relationship Type="http://schemas.openxmlformats.org/officeDocument/2006/relationships/notesSlide" Target="/ppt/notesSlides/notesSlide1.xml" Id="Rb3f49b30d88d4a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a3a373a90ea4fa0" /><Relationship Type="http://schemas.openxmlformats.org/officeDocument/2006/relationships/hyperlink" Target="https://x.com/TheCodingSoup" TargetMode="External" Id="R0f3fc32b218d498c" /><Relationship Type="http://schemas.openxmlformats.org/officeDocument/2006/relationships/hyperlink" Target="https://www.linkedin.com/in/lorenzo-porras/" TargetMode="External" Id="R52308af3794443fa" /><Relationship Type="http://schemas.openxmlformats.org/officeDocument/2006/relationships/hyperlink" Target="https://github.com/LorenzoWandB" TargetMode="External" Id="Rff23cac9294b44e4" /><Relationship Type="http://schemas.openxmlformats.org/officeDocument/2006/relationships/image" Target="/ppt/media/image.jpeg" Id="R21f9daca02954a43" /><Relationship Type="http://schemas.openxmlformats.org/officeDocument/2006/relationships/notesSlide" Target="/ppt/notesSlides/notesSlide2.xml" Id="R5c754d84f6f341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ef453360463483f" /><Relationship Type="http://schemas.openxmlformats.org/officeDocument/2006/relationships/notesSlide" Target="/ppt/notesSlides/notesSlide3.xml" Id="R7f269963104841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d0538ad278941eb" /><Relationship Type="http://schemas.openxmlformats.org/officeDocument/2006/relationships/notesSlide" Target="/ppt/notesSlides/notesSlide4.xml" Id="Rd21939e9b9e140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2ea06621d214563" /><Relationship Type="http://schemas.openxmlformats.org/officeDocument/2006/relationships/notesSlide" Target="/ppt/notesSlides/notesSlide5.xml" Id="Rdec564e0e9db44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dc87954c44d4ac9" /><Relationship Type="http://schemas.openxmlformats.org/officeDocument/2006/relationships/notesSlide" Target="/ppt/notesSlides/notesSlide6.xml" Id="Re3bee450804a45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eff7a770ca745d3" /><Relationship Type="http://schemas.openxmlformats.org/officeDocument/2006/relationships/image" Target="/ppt/media/image.png" Id="Reaed2ce51a6d4086" /><Relationship Type="http://schemas.openxmlformats.org/officeDocument/2006/relationships/notesSlide" Target="/ppt/notesSlides/notesSlide7.xml" Id="Rd54b08804f884e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3158f82fcd3428d" /><Relationship Type="http://schemas.openxmlformats.org/officeDocument/2006/relationships/notesSlide" Target="/ppt/notesSlides/notesSlide8.xml" Id="R5e9a1893450146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39bdf88880e4289" /><Relationship Type="http://schemas.openxmlformats.org/officeDocument/2006/relationships/image" Target="/ppt/media/image2.png" Id="Rd50bdd78fce046d2" /><Relationship Type="http://schemas.openxmlformats.org/officeDocument/2006/relationships/notesSlide" Target="/ppt/notesSlides/notesSlide9.xml" Id="Rb3e6f0e903024d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719e7fc001e473a" /><Relationship Type="http://schemas.openxmlformats.org/officeDocument/2006/relationships/notesSlide" Target="/ppt/notesSlides/notesSlide10.xml" Id="Rd335128121ae4e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4ceae470b654cb9" /><Relationship Type="http://schemas.openxmlformats.org/officeDocument/2006/relationships/notesSlide" Target="/ppt/notesSlides/notesSlide11.xml" Id="Rb3531e1c0e9b4b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37a409515404667" /><Relationship Type="http://schemas.openxmlformats.org/officeDocument/2006/relationships/notesSlide" Target="/ppt/notesSlides/notesSlide12.xml" Id="R03c553a5d57f4d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80cbf402cdc4c90" /><Relationship Type="http://schemas.openxmlformats.org/officeDocument/2006/relationships/notesSlide" Target="/ppt/notesSlides/notesSlide13.xml" Id="Rb7707ce048214d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7328f4d391d4ed3" /><Relationship Type="http://schemas.openxmlformats.org/officeDocument/2006/relationships/notesSlide" Target="/ppt/notesSlides/notesSlide14.xml" Id="R1d723d5ea3c34f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7ab2fc63648a4c10" /><Relationship Type="http://schemas.openxmlformats.org/officeDocument/2006/relationships/notesSlide" Target="/ppt/notesSlides/notesSlide15.xml" Id="R5bf0d044cb564d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813a818f4ca44ce" /><Relationship Type="http://schemas.openxmlformats.org/officeDocument/2006/relationships/image" Target="/ppt/media/image3.png" Id="Rd37fd9c8308f480d" /><Relationship Type="http://schemas.openxmlformats.org/officeDocument/2006/relationships/notesSlide" Target="/ppt/notesSlides/notesSlide16.xml" Id="R1e562c78905e40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a81db7adff844b2" /><Relationship Type="http://schemas.openxmlformats.org/officeDocument/2006/relationships/notesSlide" Target="/ppt/notesSlides/notesSlide17.xml" Id="R4b7ae8bd746542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c44091cee214396" /><Relationship Type="http://schemas.openxmlformats.org/officeDocument/2006/relationships/notesSlide" Target="/ppt/notesSlides/notesSlide18.xml" Id="R8b41bdee1ad64f8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a4ba943343b415e" /><Relationship Type="http://schemas.openxmlformats.org/officeDocument/2006/relationships/image" Target="/ppt/media/image4.png" Id="R6e7dace9596f455b" /><Relationship Type="http://schemas.openxmlformats.org/officeDocument/2006/relationships/notesSlide" Target="/ppt/notesSlides/notesSlide19.xml" Id="R732b28f0046b41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c9f1bf987a144d01" /><Relationship Type="http://schemas.openxmlformats.org/officeDocument/2006/relationships/notesSlide" Target="/ppt/notesSlides/notesSlide20.xml" Id="Rd9b5674bb74a470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be208b1d37c43ae" /><Relationship Type="http://schemas.openxmlformats.org/officeDocument/2006/relationships/image" Target="/ppt/media/image2.jpeg" Id="R1ef86fc67e2a4e85" /><Relationship Type="http://schemas.openxmlformats.org/officeDocument/2006/relationships/notesSlide" Target="/ppt/notesSlides/notesSlide21.xml" Id="R7117b1c5417944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8946F091-2F99-4263-8999-AA46AEF1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3062880" cy="3470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TextBox 2">
            <a:extLst xmlns:a="http://schemas.openxmlformats.org/drawingml/2006/main">
              <a:ext uri="{FF2B5EF4-FFF2-40B4-BE49-F238E27FC236}">
                <a16:creationId xmlns:a16="http://schemas.microsoft.com/office/drawing/2014/main" id="{1A4D875B-7945-4268-86AB-6520AD2B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306288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50" b="1" u="none" spc="99">
                <a:solidFill>
                  <a:srgbClr val="2375FF"/>
                </a:solidFill>
                <a:latin typeface="Arial"/>
                <a:ea typeface="Arial"/>
                <a:cs typeface="Arial"/>
              </a:rPr>
              <a:t>AGENT LOOP WORKSHOP • 90 MINUTES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TextBox 3">
            <a:extLst xmlns:a="http://schemas.openxmlformats.org/drawingml/2006/main">
              <a:ext uri="{FF2B5EF4-FFF2-40B4-BE49-F238E27FC236}">
                <a16:creationId xmlns:a16="http://schemas.microsoft.com/office/drawing/2014/main" id="{2747B9F3-8DB2-4F81-BD5D-EF127C8A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60" y="1417320"/>
            <a:ext cx="7223400" cy="1828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44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Trace, evaluate,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44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and improve an AI agent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TextBox 4">
            <a:extLst xmlns:a="http://schemas.openxmlformats.org/drawingml/2006/main">
              <a:ext uri="{FF2B5EF4-FFF2-40B4-BE49-F238E27FC236}">
                <a16:creationId xmlns:a16="http://schemas.microsoft.com/office/drawing/2014/main" id="{F3EA724B-10CE-4431-929C-A16F4482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83280"/>
            <a:ext cx="6674760" cy="109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600" b="0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Follow one PatchPilot repair from its first checks to a tested improvement—and decide where a person still needs to review.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05C0254-90C5-4CD1-AB39-A165ABD5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0"/>
            <a:ext cx="1462680" cy="3286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TextBox 6">
            <a:extLst xmlns:a="http://schemas.openxmlformats.org/drawingml/2006/main">
              <a:ext uri="{FF2B5EF4-FFF2-40B4-BE49-F238E27FC236}">
                <a16:creationId xmlns:a16="http://schemas.microsoft.com/office/drawing/2014/main" id="{2272ECD5-12A6-4B55-B5F5-4E1913E0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0"/>
            <a:ext cx="1462680" cy="32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9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FOLLOW ALONG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D28F2E3-25A9-4283-AFEB-C40C1795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640" y="5486400"/>
            <a:ext cx="1554120" cy="3286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TextBox 8">
            <a:extLst xmlns:a="http://schemas.openxmlformats.org/drawingml/2006/main">
              <a:ext uri="{FF2B5EF4-FFF2-40B4-BE49-F238E27FC236}">
                <a16:creationId xmlns:a16="http://schemas.microsoft.com/office/drawing/2014/main" id="{E4515F73-B337-4EB9-A202-FE69F52E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640" y="5486400"/>
            <a:ext cx="1554120" cy="32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9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ASK QUESTIONS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0280635-492D-439C-A276-93AD810E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640" y="5486400"/>
            <a:ext cx="2011320" cy="3286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TextBox 10">
            <a:extLst xmlns:a="http://schemas.openxmlformats.org/drawingml/2006/main">
              <a:ext uri="{FF2B5EF4-FFF2-40B4-BE49-F238E27FC236}">
                <a16:creationId xmlns:a16="http://schemas.microsoft.com/office/drawing/2014/main" id="{B601F672-2784-4C52-8A88-D4C673BC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640" y="5486400"/>
            <a:ext cx="2011320" cy="32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9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NO PYTHON REQUIRED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B7234EA-CEE2-4A02-B212-11D0AFED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31520"/>
            <a:ext cx="3565800" cy="5394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TextBox 12">
            <a:extLst xmlns:a="http://schemas.openxmlformats.org/drawingml/2006/main">
              <a:ext uri="{FF2B5EF4-FFF2-40B4-BE49-F238E27FC236}">
                <a16:creationId xmlns:a16="http://schemas.microsoft.com/office/drawing/2014/main" id="{3C46D74A-726A-4700-A845-392F39B0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024200"/>
            <a:ext cx="2834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TODAY'S LOOP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Oval 13">
            <a:extLst xmlns:a="http://schemas.openxmlformats.org/drawingml/2006/main">
              <a:ext uri="{FF2B5EF4-FFF2-40B4-BE49-F238E27FC236}">
                <a16:creationId xmlns:a16="http://schemas.microsoft.com/office/drawing/2014/main" id="{72847D3E-64CF-4F82-AB36-FBBE1588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481400"/>
            <a:ext cx="383760" cy="383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TextBox 14">
            <a:extLst xmlns:a="http://schemas.openxmlformats.org/drawingml/2006/main">
              <a:ext uri="{FF2B5EF4-FFF2-40B4-BE49-F238E27FC236}">
                <a16:creationId xmlns:a16="http://schemas.microsoft.com/office/drawing/2014/main" id="{92BFB9C7-0631-482F-B5F3-9A1541CA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481400"/>
            <a:ext cx="383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TextBox 15">
            <a:extLst xmlns:a="http://schemas.openxmlformats.org/drawingml/2006/main">
              <a:ext uri="{FF2B5EF4-FFF2-40B4-BE49-F238E27FC236}">
                <a16:creationId xmlns:a16="http://schemas.microsoft.com/office/drawing/2014/main" id="{99FB9FF3-49C4-44FA-940A-2651CD1B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81400"/>
            <a:ext cx="24685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6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Run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Oval 16">
            <a:extLst xmlns:a="http://schemas.openxmlformats.org/drawingml/2006/main">
              <a:ext uri="{FF2B5EF4-FFF2-40B4-BE49-F238E27FC236}">
                <a16:creationId xmlns:a16="http://schemas.microsoft.com/office/drawing/2014/main" id="{D08CD008-E48A-49B2-9C4D-E0FB1D87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231280"/>
            <a:ext cx="383760" cy="383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TextBox 17">
            <a:extLst xmlns:a="http://schemas.openxmlformats.org/drawingml/2006/main">
              <a:ext uri="{FF2B5EF4-FFF2-40B4-BE49-F238E27FC236}">
                <a16:creationId xmlns:a16="http://schemas.microsoft.com/office/drawing/2014/main" id="{F976AE44-C64D-4DE6-B860-3E486E22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231280"/>
            <a:ext cx="383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TextBox 18">
            <a:extLst xmlns:a="http://schemas.openxmlformats.org/drawingml/2006/main">
              <a:ext uri="{FF2B5EF4-FFF2-40B4-BE49-F238E27FC236}">
                <a16:creationId xmlns:a16="http://schemas.microsoft.com/office/drawing/2014/main" id="{EA4AFAD7-EA3C-418B-BBF5-B18DF585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31280"/>
            <a:ext cx="24685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6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Observe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Oval 19">
            <a:extLst xmlns:a="http://schemas.openxmlformats.org/drawingml/2006/main">
              <a:ext uri="{FF2B5EF4-FFF2-40B4-BE49-F238E27FC236}">
                <a16:creationId xmlns:a16="http://schemas.microsoft.com/office/drawing/2014/main" id="{2D27CE79-60A7-4F24-8D19-7FE1E253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980800"/>
            <a:ext cx="383760" cy="383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TextBox 20">
            <a:extLst xmlns:a="http://schemas.openxmlformats.org/drawingml/2006/main">
              <a:ext uri="{FF2B5EF4-FFF2-40B4-BE49-F238E27FC236}">
                <a16:creationId xmlns:a16="http://schemas.microsoft.com/office/drawing/2014/main" id="{B99A0F0B-C955-4B43-9EC4-780B2CD9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980800"/>
            <a:ext cx="383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TextBox 21">
            <a:extLst xmlns:a="http://schemas.openxmlformats.org/drawingml/2006/main">
              <a:ext uri="{FF2B5EF4-FFF2-40B4-BE49-F238E27FC236}">
                <a16:creationId xmlns:a16="http://schemas.microsoft.com/office/drawing/2014/main" id="{A8A204BE-3FBB-439C-8161-FA6625C6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80800"/>
            <a:ext cx="24685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6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Curate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Oval 22">
            <a:extLst xmlns:a="http://schemas.openxmlformats.org/drawingml/2006/main">
              <a:ext uri="{FF2B5EF4-FFF2-40B4-BE49-F238E27FC236}">
                <a16:creationId xmlns:a16="http://schemas.microsoft.com/office/drawing/2014/main" id="{05B30F5A-4669-41DD-8A75-FA5A6EDA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730680"/>
            <a:ext cx="383760" cy="383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TextBox 23">
            <a:extLst xmlns:a="http://schemas.openxmlformats.org/drawingml/2006/main">
              <a:ext uri="{FF2B5EF4-FFF2-40B4-BE49-F238E27FC236}">
                <a16:creationId xmlns:a16="http://schemas.microsoft.com/office/drawing/2014/main" id="{78D777E8-19F2-4B4E-9DEF-12405380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730680"/>
            <a:ext cx="383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TextBox 24">
            <a:extLst xmlns:a="http://schemas.openxmlformats.org/drawingml/2006/main">
              <a:ext uri="{FF2B5EF4-FFF2-40B4-BE49-F238E27FC236}">
                <a16:creationId xmlns:a16="http://schemas.microsoft.com/office/drawing/2014/main" id="{93CEB7D0-A612-4818-8384-390C4B92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30680"/>
            <a:ext cx="24685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6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Evaluate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Oval 25">
            <a:extLst xmlns:a="http://schemas.openxmlformats.org/drawingml/2006/main">
              <a:ext uri="{FF2B5EF4-FFF2-40B4-BE49-F238E27FC236}">
                <a16:creationId xmlns:a16="http://schemas.microsoft.com/office/drawing/2014/main" id="{0021F733-873B-4CE9-92D4-D92A012D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480560"/>
            <a:ext cx="383760" cy="383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TextBox 26">
            <a:extLst xmlns:a="http://schemas.openxmlformats.org/drawingml/2006/main">
              <a:ext uri="{FF2B5EF4-FFF2-40B4-BE49-F238E27FC236}">
                <a16:creationId xmlns:a16="http://schemas.microsoft.com/office/drawing/2014/main" id="{92113126-79CC-4E47-AB10-81136B95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480560"/>
            <a:ext cx="383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TextBox 27">
            <a:extLst xmlns:a="http://schemas.openxmlformats.org/drawingml/2006/main">
              <a:ext uri="{FF2B5EF4-FFF2-40B4-BE49-F238E27FC236}">
                <a16:creationId xmlns:a16="http://schemas.microsoft.com/office/drawing/2014/main" id="{1F58F6BC-A9C2-4A6D-845F-9E48997F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80560"/>
            <a:ext cx="24685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6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Improve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Oval 28">
            <a:extLst xmlns:a="http://schemas.openxmlformats.org/drawingml/2006/main">
              <a:ext uri="{FF2B5EF4-FFF2-40B4-BE49-F238E27FC236}">
                <a16:creationId xmlns:a16="http://schemas.microsoft.com/office/drawing/2014/main" id="{B7CAA86F-B2BC-4356-935E-5E7B11AC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5230440"/>
            <a:ext cx="383760" cy="383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TextBox 29">
            <a:extLst xmlns:a="http://schemas.openxmlformats.org/drawingml/2006/main">
              <a:ext uri="{FF2B5EF4-FFF2-40B4-BE49-F238E27FC236}">
                <a16:creationId xmlns:a16="http://schemas.microsoft.com/office/drawing/2014/main" id="{D363D95F-16E9-4E93-B3A6-A6FBF926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5230440"/>
            <a:ext cx="383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TextBox 30">
            <a:extLst xmlns:a="http://schemas.openxmlformats.org/drawingml/2006/main">
              <a:ext uri="{FF2B5EF4-FFF2-40B4-BE49-F238E27FC236}">
                <a16:creationId xmlns:a16="http://schemas.microsoft.com/office/drawing/2014/main" id="{46941478-0560-49C7-925A-DBA359BA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30440"/>
            <a:ext cx="24685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6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Decide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36296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TextBox 1">
            <a:extLst xmlns:a="http://schemas.openxmlformats.org/drawingml/2006/main">
              <a:ext uri="{FF2B5EF4-FFF2-40B4-BE49-F238E27FC236}">
                <a16:creationId xmlns:a16="http://schemas.microsoft.com/office/drawing/2014/main" id="{F1A170E7-B53B-46DC-BAA8-EB31A145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MEET YOUR FACILITATOR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TextBox 2">
            <a:extLst xmlns:a="http://schemas.openxmlformats.org/drawingml/2006/main">
              <a:ext uri="{FF2B5EF4-FFF2-40B4-BE49-F238E27FC236}">
                <a16:creationId xmlns:a16="http://schemas.microsoft.com/office/drawing/2014/main" id="{AFB56C41-F49C-4D0D-8DE1-D615AE4A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320"/>
            <a:ext cx="68576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42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Lorenzo </a:t>
            </a:r>
            <a:r>
              <a:rPr sz="4200" b="1" u="none">
                <a:solidFill>
                  <a:srgbClr val="2375FF"/>
                </a:solidFill>
                <a:latin typeface="Arial"/>
                <a:ea typeface="Arial"/>
                <a:cs typeface="Arial"/>
              </a:rPr>
              <a:t>Balderrama</a:t>
            </a:r>
            <a:endParaRPr sz="4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57B35D7C-E3D5-448D-9FB9-437D41C3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2239920" cy="383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TextBox 4">
            <a:extLst xmlns:a="http://schemas.openxmlformats.org/drawingml/2006/main">
              <a:ext uri="{FF2B5EF4-FFF2-40B4-BE49-F238E27FC236}">
                <a16:creationId xmlns:a16="http://schemas.microsoft.com/office/drawing/2014/main" id="{260DC6EC-2099-4C8B-84CD-7CB5D242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22399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5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DEVELOPER RELATIONS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TextBox 5">
            <a:extLst xmlns:a="http://schemas.openxmlformats.org/drawingml/2006/main">
              <a:ext uri="{FF2B5EF4-FFF2-40B4-BE49-F238E27FC236}">
                <a16:creationId xmlns:a16="http://schemas.microsoft.com/office/drawing/2014/main" id="{45C2BF3C-A3C6-42D6-96E6-7E595AD5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783080"/>
            <a:ext cx="420588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@ Weights &amp; Biases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TextBox 6">
            <a:extLst xmlns:a="http://schemas.openxmlformats.org/drawingml/2006/main">
              <a:ext uri="{FF2B5EF4-FFF2-40B4-BE49-F238E27FC236}">
                <a16:creationId xmlns:a16="http://schemas.microsoft.com/office/drawing/2014/main" id="{9E432405-9D9B-47BA-937D-7A641134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95800"/>
            <a:ext cx="667476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I’ll guide one shared path through the notebook and Weave, with room for business and technical questions.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TextBox 7">
            <a:extLst xmlns:a="http://schemas.openxmlformats.org/drawingml/2006/main">
              <a:ext uri="{FF2B5EF4-FFF2-40B4-BE49-F238E27FC236}">
                <a16:creationId xmlns:a16="http://schemas.microsoft.com/office/drawing/2014/main" id="{B3E679A9-125A-4A6C-BDF0-DC936FF5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46120"/>
            <a:ext cx="2742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LET'S CONNECT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8C6544C-7251-477D-B5AB-0D34C6F2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402120" cy="40212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B0F16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TextBox 9">
            <a:extLst xmlns:a="http://schemas.openxmlformats.org/drawingml/2006/main">
              <a:ext uri="{FF2B5EF4-FFF2-40B4-BE49-F238E27FC236}">
                <a16:creationId xmlns:a16="http://schemas.microsoft.com/office/drawing/2014/main" id="{A9F586D6-A513-47EE-9236-B97ED9D9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40212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4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X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TextBox 10">
            <a:extLst xmlns:a="http://schemas.openxmlformats.org/drawingml/2006/main">
              <a:ext uri="{FF2B5EF4-FFF2-40B4-BE49-F238E27FC236}">
                <a16:creationId xmlns:a16="http://schemas.microsoft.com/office/drawing/2014/main" id="{F42191E0-BE67-453D-A692-944FF62D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1880"/>
            <a:ext cx="603468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00" b="1" u="none">
                <a:solidFill>
                  <a:srgbClr val="0B0F16"/>
                </a:solidFill>
                <a:latin typeface="Arial"/>
                <a:ea typeface="Arial"/>
                <a:cs typeface="Arial"/>
                <a:hlinkClick xmlns:r="http://schemas.openxmlformats.org/officeDocument/2006/relationships" r:id="R0f3fc32b218d498c"/>
              </a:rPr>
              <a:t>@TheCodingSoup   ·   x.com/TheCodingSoup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21F9E91-A46C-48CD-BC1B-5231C02A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87880"/>
            <a:ext cx="402120" cy="40212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A66C2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TextBox 12">
            <a:extLst xmlns:a="http://schemas.openxmlformats.org/drawingml/2006/main">
              <a:ext uri="{FF2B5EF4-FFF2-40B4-BE49-F238E27FC236}">
                <a16:creationId xmlns:a16="http://schemas.microsoft.com/office/drawing/2014/main" id="{5A908845-F7F7-407F-8EDE-EAF774BA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87880"/>
            <a:ext cx="40212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4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in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TextBox 13">
            <a:extLst xmlns:a="http://schemas.openxmlformats.org/drawingml/2006/main">
              <a:ext uri="{FF2B5EF4-FFF2-40B4-BE49-F238E27FC236}">
                <a16:creationId xmlns:a16="http://schemas.microsoft.com/office/drawing/2014/main" id="{9394F7C0-4F5B-4BF6-AE57-1C787FC5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87880"/>
            <a:ext cx="603468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00" b="1" u="none">
                <a:solidFill>
                  <a:srgbClr val="0B0F16"/>
                </a:solidFill>
                <a:latin typeface="Arial"/>
                <a:ea typeface="Arial"/>
                <a:cs typeface="Arial"/>
                <a:hlinkClick xmlns:r="http://schemas.openxmlformats.org/officeDocument/2006/relationships" r:id="R52308af3794443fa"/>
              </a:rPr>
              <a:t>Lorenzo Porras   ·   linkedin.com/in/lorenzo-porras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9B27D63-9E4D-4A08-B63D-31B0041A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63880"/>
            <a:ext cx="402120" cy="40212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B0F16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TextBox 15">
            <a:extLst xmlns:a="http://schemas.openxmlformats.org/drawingml/2006/main">
              <a:ext uri="{FF2B5EF4-FFF2-40B4-BE49-F238E27FC236}">
                <a16:creationId xmlns:a16="http://schemas.microsoft.com/office/drawing/2014/main" id="{12CBE0B2-DC7B-432D-A0D3-D8D7D602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63880"/>
            <a:ext cx="40212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&lt;/&gt;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TextBox 16">
            <a:extLst xmlns:a="http://schemas.openxmlformats.org/drawingml/2006/main">
              <a:ext uri="{FF2B5EF4-FFF2-40B4-BE49-F238E27FC236}">
                <a16:creationId xmlns:a16="http://schemas.microsoft.com/office/drawing/2014/main" id="{71EC373D-4C59-4745-BDEA-AA53F3A1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3880"/>
            <a:ext cx="603468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00" b="1" u="none">
                <a:solidFill>
                  <a:srgbClr val="0B0F16"/>
                </a:solidFill>
                <a:latin typeface="Arial"/>
                <a:ea typeface="Arial"/>
                <a:cs typeface="Arial"/>
                <a:hlinkClick xmlns:r="http://schemas.openxmlformats.org/officeDocument/2006/relationships" r:id="Rff23cac9294b44e4"/>
              </a:rPr>
              <a:t>LorenzoWandB   ·   github.com/LorenzoWandB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TextBox 17">
            <a:extLst xmlns:a="http://schemas.openxmlformats.org/drawingml/2006/main">
              <a:ext uri="{FF2B5EF4-FFF2-40B4-BE49-F238E27FC236}">
                <a16:creationId xmlns:a16="http://schemas.microsoft.com/office/drawing/2014/main" id="{6359DA0B-0440-4D2F-B07F-12040C14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86400"/>
            <a:ext cx="5025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4400" b="1" u="none">
                <a:solidFill>
                  <a:srgbClr val="2375FF"/>
                </a:solidFill>
                <a:latin typeface="Arial"/>
                <a:ea typeface="Arial"/>
                <a:cs typeface="Arial"/>
              </a:rPr>
              <a:t>“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TextBox 18">
            <a:extLst xmlns:a="http://schemas.openxmlformats.org/drawingml/2006/main">
              <a:ext uri="{FF2B5EF4-FFF2-40B4-BE49-F238E27FC236}">
                <a16:creationId xmlns:a16="http://schemas.microsoft.com/office/drawing/2014/main" id="{B8E20081-5C23-4492-8F5E-2355FD7F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596200"/>
            <a:ext cx="61261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0" i="1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The example is a coding agent, but the method applies to any AI workflow.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E2AD501A-93DD-42B8-9053-6D915C88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80" y="1481400"/>
            <a:ext cx="3337200" cy="39578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Picture 20">
            <a:extLst xmlns:a="http://schemas.openxmlformats.org/drawingml/2006/main">
              <a:ext uri="{FF2B5EF4-FFF2-40B4-BE49-F238E27FC236}">
                <a16:creationId xmlns:a16="http://schemas.microsoft.com/office/drawing/2014/main" id="{8FABFA28-7455-4530-AF23-04D0D83D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280160"/>
            <a:ext cx="3337200" cy="3957840"/>
          </a:xfrm>
          <a:prstGeom xmlns:a="http://schemas.openxmlformats.org/drawingml/2006/main" prst="roundRect">
            <a:avLst>
              <a:gd name="adj" fmla="val 6000"/>
            </a:avLst>
          </a:prstGeom>
          <a:blipFill xmlns:a="http://schemas.openxmlformats.org/drawingml/2006/main" rotWithShape="0">
            <a:blip xmlns:r="http://schemas.openxmlformats.org/officeDocument/2006/relationships" r:embed="R21f9daca02954a43"/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86FCF8C0-60D9-46D3-B2F8-F10D0452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240000">
            <a:off x="7589160" y="4892040"/>
            <a:ext cx="1965600" cy="4384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TextBox 22">
            <a:extLst xmlns:a="http://schemas.openxmlformats.org/drawingml/2006/main">
              <a:ext uri="{FF2B5EF4-FFF2-40B4-BE49-F238E27FC236}">
                <a16:creationId xmlns:a16="http://schemas.microsoft.com/office/drawing/2014/main" id="{3A589D97-F604-4B5B-9546-E043DBC3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240000">
            <a:off x="7589160" y="4892040"/>
            <a:ext cx="1965600" cy="43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ASK ME ANYTHING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TextBox 23">
            <a:extLst xmlns:a="http://schemas.openxmlformats.org/drawingml/2006/main">
              <a:ext uri="{FF2B5EF4-FFF2-40B4-BE49-F238E27FC236}">
                <a16:creationId xmlns:a16="http://schemas.microsoft.com/office/drawing/2014/main" id="{699A1A4F-213E-416E-92CB-68CDEE21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GITHUB.COM/LORENZOWANDB • QUESTIONS ARE WELCOME THROUGHOUT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TextBox 24">
            <a:extLst xmlns:a="http://schemas.openxmlformats.org/drawingml/2006/main">
              <a:ext uri="{FF2B5EF4-FFF2-40B4-BE49-F238E27FC236}">
                <a16:creationId xmlns:a16="http://schemas.microsoft.com/office/drawing/2014/main" id="{0582FFC3-775F-4A47-9590-D4A6FE39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02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9922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TextBox 1">
            <a:extLst xmlns:a="http://schemas.openxmlformats.org/drawingml/2006/main">
              <a:ext uri="{FF2B5EF4-FFF2-40B4-BE49-F238E27FC236}">
                <a16:creationId xmlns:a16="http://schemas.microsoft.com/office/drawing/2014/main" id="{0D79311B-C10A-4D2D-AB55-900B9B9C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THE PROBLEM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TextBox 2">
            <a:extLst xmlns:a="http://schemas.openxmlformats.org/drawingml/2006/main">
              <a:ext uri="{FF2B5EF4-FFF2-40B4-BE49-F238E27FC236}">
                <a16:creationId xmlns:a16="http://schemas.microsoft.com/office/drawing/2014/main" id="{1BD41CA5-08BC-4722-B1EE-9FD5E1BB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3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We found a bug in BeeVerse’s support system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D415885-273D-49D0-AF16-4EBE11DB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4023000" cy="30628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7F2414D-999A-4C5A-8B38-97477006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86000"/>
            <a:ext cx="1462680" cy="3286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TextBox 5">
            <a:extLst xmlns:a="http://schemas.openxmlformats.org/drawingml/2006/main">
              <a:ext uri="{FF2B5EF4-FFF2-40B4-BE49-F238E27FC236}">
                <a16:creationId xmlns:a16="http://schemas.microsoft.com/office/drawing/2014/main" id="{EBBBEB99-1FF2-4735-8CC6-54D87563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86000"/>
            <a:ext cx="1462680" cy="32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95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BUG</a:t>
            </a:r>
            <a:endParaRPr sz="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TextBox 6">
            <a:extLst xmlns:a="http://schemas.openxmlformats.org/drawingml/2006/main">
              <a:ext uri="{FF2B5EF4-FFF2-40B4-BE49-F238E27FC236}">
                <a16:creationId xmlns:a16="http://schemas.microsoft.com/office/drawing/2014/main" id="{49D84FD7-B753-457B-AB40-227029E7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34640"/>
            <a:ext cx="338292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1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Checks ticket numbers,</a:t>
            </a:r>
            <a:endParaRPr sz="2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1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not who owns them.</a:t>
            </a:r>
            <a:endParaRPr sz="2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TextBox 7">
            <a:extLst xmlns:a="http://schemas.openxmlformats.org/drawingml/2006/main">
              <a:ext uri="{FF2B5EF4-FFF2-40B4-BE49-F238E27FC236}">
                <a16:creationId xmlns:a16="http://schemas.microsoft.com/office/drawing/2014/main" id="{2DD63A2F-9639-485F-B749-2A930492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3382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00" b="0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A Honeycomb request can include Pollen’s ticket.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2CA4DBF-FDAF-4C72-BCDF-B382E96D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965960"/>
            <a:ext cx="6747840" cy="30628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TextBox 9">
            <a:extLst xmlns:a="http://schemas.openxmlformats.org/drawingml/2006/main">
              <a:ext uri="{FF2B5EF4-FFF2-40B4-BE49-F238E27FC236}">
                <a16:creationId xmlns:a16="http://schemas.microsoft.com/office/drawing/2014/main" id="{F6F27FEA-59E9-454B-A515-6321AFFF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0280"/>
            <a:ext cx="4571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WHY IT MATTERS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Oval 10">
            <a:extLst xmlns:a="http://schemas.openxmlformats.org/drawingml/2006/main">
              <a:ext uri="{FF2B5EF4-FFF2-40B4-BE49-F238E27FC236}">
                <a16:creationId xmlns:a16="http://schemas.microsoft.com/office/drawing/2014/main" id="{BB548D82-EE02-443F-9565-5BAA160D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97480"/>
            <a:ext cx="402120" cy="40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TextBox 11">
            <a:extLst xmlns:a="http://schemas.openxmlformats.org/drawingml/2006/main">
              <a:ext uri="{FF2B5EF4-FFF2-40B4-BE49-F238E27FC236}">
                <a16:creationId xmlns:a16="http://schemas.microsoft.com/office/drawing/2014/main" id="{7595E7E6-440B-4CD9-8C9D-ADD7C4B1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97480"/>
            <a:ext cx="40212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TextBox 12">
            <a:extLst xmlns:a="http://schemas.openxmlformats.org/drawingml/2006/main">
              <a:ext uri="{FF2B5EF4-FFF2-40B4-BE49-F238E27FC236}">
                <a16:creationId xmlns:a16="http://schemas.microsoft.com/office/drawing/2014/main" id="{0C3B753E-7A39-419D-B980-6E8F2112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697480"/>
            <a:ext cx="557748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00" b="0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Pollen’s ticket could be closed by mistake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Oval 13">
            <a:extLst xmlns:a="http://schemas.openxmlformats.org/drawingml/2006/main">
              <a:ext uri="{FF2B5EF4-FFF2-40B4-BE49-F238E27FC236}">
                <a16:creationId xmlns:a16="http://schemas.microsoft.com/office/drawing/2014/main" id="{F9712555-F593-4517-81C5-72B63F5C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47360"/>
            <a:ext cx="402120" cy="40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D1FBC44-AC32-4FF9-B03D-2E4BA914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47360"/>
            <a:ext cx="40212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0233403-A9AA-4D45-9546-BE771569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447360"/>
            <a:ext cx="557748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00" b="0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The original checks could still pass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Oval 16">
            <a:extLst xmlns:a="http://schemas.openxmlformats.org/drawingml/2006/main">
              <a:ext uri="{FF2B5EF4-FFF2-40B4-BE49-F238E27FC236}">
                <a16:creationId xmlns:a16="http://schemas.microsoft.com/office/drawing/2014/main" id="{42D01B87-4478-437B-A4DE-7BD7D275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97240"/>
            <a:ext cx="402120" cy="40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TextBox 17">
            <a:extLst xmlns:a="http://schemas.openxmlformats.org/drawingml/2006/main">
              <a:ext uri="{FF2B5EF4-FFF2-40B4-BE49-F238E27FC236}">
                <a16:creationId xmlns:a16="http://schemas.microsoft.com/office/drawing/2014/main" id="{1F16C254-A86C-4735-BD6B-8261B3B0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97240"/>
            <a:ext cx="40212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TextBox 18">
            <a:extLst xmlns:a="http://schemas.openxmlformats.org/drawingml/2006/main">
              <a:ext uri="{FF2B5EF4-FFF2-40B4-BE49-F238E27FC236}">
                <a16:creationId xmlns:a16="http://schemas.microsoft.com/office/drawing/2014/main" id="{D4B245E1-8024-4885-B076-EAD02AE9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197240"/>
            <a:ext cx="557748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The team could approve an unsafe repair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BC929641-5651-4DD8-B629-D9C16A80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9240"/>
            <a:ext cx="11091240" cy="7311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C304E04-7D24-4451-B3AD-6EEB1381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49240"/>
            <a:ext cx="1042380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OUR GOAL — Prove the repair keeps customers separate, then decide when a person should review.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7011799-8237-4815-956D-019CDE8B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BUG → TRACE → TEST THE REPAIR → COMPARE RESULTS → DECIDE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TextBox 22">
            <a:extLst xmlns:a="http://schemas.openxmlformats.org/drawingml/2006/main">
              <a:ext uri="{FF2B5EF4-FFF2-40B4-BE49-F238E27FC236}">
                <a16:creationId xmlns:a16="http://schemas.microsoft.com/office/drawing/2014/main" id="{B266F095-734D-4D51-9213-7FDEF9D5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03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3028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extBox 1">
            <a:extLst xmlns:a="http://schemas.openxmlformats.org/drawingml/2006/main">
              <a:ext uri="{FF2B5EF4-FFF2-40B4-BE49-F238E27FC236}">
                <a16:creationId xmlns:a16="http://schemas.microsoft.com/office/drawing/2014/main" id="{430B043A-887C-40EE-A28F-92747034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THE USE CASE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TextBox 2">
            <a:extLst xmlns:a="http://schemas.openxmlformats.org/drawingml/2006/main">
              <a:ext uri="{FF2B5EF4-FFF2-40B4-BE49-F238E27FC236}">
                <a16:creationId xmlns:a16="http://schemas.microsoft.com/office/drawing/2014/main" id="{8B558EED-B888-471D-813C-B74339FE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3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Honeycomb asks for help. Pollen’s ticket is at risk.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TextBox 3">
            <a:extLst xmlns:a="http://schemas.openxmlformats.org/drawingml/2006/main">
              <a:ext uri="{FF2B5EF4-FFF2-40B4-BE49-F238E27FC236}">
                <a16:creationId xmlns:a16="http://schemas.microsoft.com/office/drawing/2014/main" id="{36CFC75C-0BFC-42D6-A88D-D101A6F9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10440"/>
            <a:ext cx="11063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BeeVerse runs the support-ticket system used by both companies. Before a seasonal sale, Honeycomb asks to close two tickets—but one belongs to Pollen.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EB31701-DDD1-4BEE-BC54-4BA511BB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23160"/>
            <a:ext cx="3565800" cy="159984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7" name="TextBox 5">
            <a:extLst xmlns:a="http://schemas.openxmlformats.org/drawingml/2006/main">
              <a:ext uri="{FF2B5EF4-FFF2-40B4-BE49-F238E27FC236}">
                <a16:creationId xmlns:a16="http://schemas.microsoft.com/office/drawing/2014/main" id="{9CD7E511-98BD-4042-B9FD-46F61A4F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97480"/>
            <a:ext cx="3017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BEEVERSE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TextBox 6">
            <a:extLst xmlns:a="http://schemas.openxmlformats.org/drawingml/2006/main">
              <a:ext uri="{FF2B5EF4-FFF2-40B4-BE49-F238E27FC236}">
                <a16:creationId xmlns:a16="http://schemas.microsoft.com/office/drawing/2014/main" id="{FC0666C9-F86D-4842-B052-7F992547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63240"/>
            <a:ext cx="301716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Runs the shared ticket system</a:t>
            </a:r>
            <a:endParaRPr sz="1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EBF6AEA-00CF-4720-BEFF-58F5551C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360" y="2423160"/>
            <a:ext cx="3565800" cy="159984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TextBox 8">
            <a:extLst xmlns:a="http://schemas.openxmlformats.org/drawingml/2006/main">
              <a:ext uri="{FF2B5EF4-FFF2-40B4-BE49-F238E27FC236}">
                <a16:creationId xmlns:a16="http://schemas.microsoft.com/office/drawing/2014/main" id="{19A4B8F7-BC9E-4542-9738-6091C4E8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680" y="2697480"/>
            <a:ext cx="3017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HONEYCOMB BOOKS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TextBox 9">
            <a:extLst xmlns:a="http://schemas.openxmlformats.org/drawingml/2006/main">
              <a:ext uri="{FF2B5EF4-FFF2-40B4-BE49-F238E27FC236}">
                <a16:creationId xmlns:a16="http://schemas.microsoft.com/office/drawing/2014/main" id="{6C3F8F7E-A8F1-41FC-B550-79711D63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680" y="3063240"/>
            <a:ext cx="301716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Asks to close HB-101 and PO-209</a:t>
            </a:r>
            <a:endParaRPr sz="1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C1065C6-CB60-4288-BD8D-11E9A1E6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80" y="2423160"/>
            <a:ext cx="3565800" cy="159984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BE9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TextBox 11">
            <a:extLst xmlns:a="http://schemas.openxmlformats.org/drawingml/2006/main">
              <a:ext uri="{FF2B5EF4-FFF2-40B4-BE49-F238E27FC236}">
                <a16:creationId xmlns:a16="http://schemas.microsoft.com/office/drawing/2014/main" id="{1C8D7128-BB69-452C-8C7B-55871502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00" y="2697480"/>
            <a:ext cx="3017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50" b="1" u="none" spc="150">
                <a:solidFill>
                  <a:srgbClr val="C82E4D"/>
                </a:solidFill>
                <a:latin typeface="Arial"/>
                <a:ea typeface="Arial"/>
                <a:cs typeface="Arial"/>
              </a:rPr>
              <a:t>POLLEN OUTFITTERS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TextBox 12">
            <a:extLst xmlns:a="http://schemas.openxmlformats.org/drawingml/2006/main">
              <a:ext uri="{FF2B5EF4-FFF2-40B4-BE49-F238E27FC236}">
                <a16:creationId xmlns:a16="http://schemas.microsoft.com/office/drawing/2014/main" id="{0460065E-DEC6-4FCE-9D2B-ADBDFFC9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00" y="3063240"/>
            <a:ext cx="301716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Owns PO-209</a:t>
            </a:r>
            <a:endParaRPr sz="1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187C8B2-5EBF-417F-8374-08EEE8FE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43400"/>
            <a:ext cx="11091240" cy="7768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BE9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Oval 14">
            <a:extLst xmlns:a="http://schemas.openxmlformats.org/drawingml/2006/main">
              <a:ext uri="{FF2B5EF4-FFF2-40B4-BE49-F238E27FC236}">
                <a16:creationId xmlns:a16="http://schemas.microsoft.com/office/drawing/2014/main" id="{B0553118-43C6-4DE8-9017-992ECEBA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44640"/>
            <a:ext cx="383760" cy="383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2E4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7" name="TextBox 15">
            <a:extLst xmlns:a="http://schemas.openxmlformats.org/drawingml/2006/main">
              <a:ext uri="{FF2B5EF4-FFF2-40B4-BE49-F238E27FC236}">
                <a16:creationId xmlns:a16="http://schemas.microsoft.com/office/drawing/2014/main" id="{23F2E0FC-2456-4D09-A618-60D9515A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44640"/>
            <a:ext cx="383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5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TextBox 16">
            <a:extLst xmlns:a="http://schemas.openxmlformats.org/drawingml/2006/main">
              <a:ext uri="{FF2B5EF4-FFF2-40B4-BE49-F238E27FC236}">
                <a16:creationId xmlns:a16="http://schemas.microsoft.com/office/drawing/2014/main" id="{B2D6E2B3-17F0-4EEE-8E6F-8C509454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343400"/>
            <a:ext cx="99666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Closing both would let one customer’s request change another customer’s data.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4743B00-C38C-4111-96F4-7FEFF611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11091240" cy="68544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TextBox 18">
            <a:extLst xmlns:a="http://schemas.openxmlformats.org/drawingml/2006/main">
              <a:ext uri="{FF2B5EF4-FFF2-40B4-BE49-F238E27FC236}">
                <a16:creationId xmlns:a16="http://schemas.microsoft.com/office/drawing/2014/main" id="{AF97C1E3-6872-4DCE-B1BB-E6D38696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40680"/>
            <a:ext cx="1042380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95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OUR JOB   </a:t>
            </a:r>
            <a:r>
              <a:rPr sz="12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Use evidence to decide whether PatchPilot’s repair prevents that mistake.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Box 19">
            <a:extLst xmlns:a="http://schemas.openxmlformats.org/drawingml/2006/main">
              <a:ext uri="{FF2B5EF4-FFF2-40B4-BE49-F238E27FC236}">
                <a16:creationId xmlns:a16="http://schemas.microsoft.com/office/drawing/2014/main" id="{48347F2B-406A-4FFC-8C5E-6447077C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PATCHPILOT IS THE CODING AGENT REPAIRING BEEVERSE’S SOFTWARE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TextBox 20">
            <a:extLst xmlns:a="http://schemas.openxmlformats.org/drawingml/2006/main">
              <a:ext uri="{FF2B5EF4-FFF2-40B4-BE49-F238E27FC236}">
                <a16:creationId xmlns:a16="http://schemas.microsoft.com/office/drawing/2014/main" id="{C138E525-CBDC-4A0F-B35C-0488459F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04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6928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TextBox 1">
            <a:extLst xmlns:a="http://schemas.openxmlformats.org/drawingml/2006/main">
              <a:ext uri="{FF2B5EF4-FFF2-40B4-BE49-F238E27FC236}">
                <a16:creationId xmlns:a16="http://schemas.microsoft.com/office/drawing/2014/main" id="{F24ABC15-2076-4A64-8939-964CA962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WHAT PATCHPILOT DOES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Box 2">
            <a:extLst xmlns:a="http://schemas.openxmlformats.org/drawingml/2006/main">
              <a:ext uri="{FF2B5EF4-FFF2-40B4-BE49-F238E27FC236}">
                <a16:creationId xmlns:a16="http://schemas.microsoft.com/office/drawing/2014/main" id="{3B66A822-DE8B-4785-909D-A5160C0D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3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PatchPilot prepares a software repair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D3D6C4D4-688D-4320-BE76-D2FAB61F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" name="TextBox 4">
            <a:extLst xmlns:a="http://schemas.openxmlformats.org/drawingml/2006/main">
              <a:ext uri="{FF2B5EF4-FFF2-40B4-BE49-F238E27FC236}">
                <a16:creationId xmlns:a16="http://schemas.microsoft.com/office/drawing/2014/main" id="{5A4BA33E-5A10-47BF-A847-80951E8D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RUN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E2DE688-3D3E-4D41-83D9-774707E1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8" name="TextBox 6">
            <a:extLst xmlns:a="http://schemas.openxmlformats.org/drawingml/2006/main">
              <a:ext uri="{FF2B5EF4-FFF2-40B4-BE49-F238E27FC236}">
                <a16:creationId xmlns:a16="http://schemas.microsoft.com/office/drawing/2014/main" id="{F5D0CFD6-758D-4127-8F5C-7BDF5876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OBSERVE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283C863-2911-42C5-914D-ED358C10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" name="TextBox 8">
            <a:extLst xmlns:a="http://schemas.openxmlformats.org/drawingml/2006/main">
              <a:ext uri="{FF2B5EF4-FFF2-40B4-BE49-F238E27FC236}">
                <a16:creationId xmlns:a16="http://schemas.microsoft.com/office/drawing/2014/main" id="{42409B5F-58A7-49C0-9F22-0DDFCA35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CURATE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579720E-2F20-4FC5-934D-842A7757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2" name="TextBox 10">
            <a:extLst xmlns:a="http://schemas.openxmlformats.org/drawingml/2006/main">
              <a:ext uri="{FF2B5EF4-FFF2-40B4-BE49-F238E27FC236}">
                <a16:creationId xmlns:a16="http://schemas.microsoft.com/office/drawing/2014/main" id="{39A82891-B084-4DC9-A5C3-7E70B6B0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EVALUATE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1C3A5FB-CAB7-4DC2-8319-BC633EEC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" name="TextBox 12">
            <a:extLst xmlns:a="http://schemas.openxmlformats.org/drawingml/2006/main">
              <a:ext uri="{FF2B5EF4-FFF2-40B4-BE49-F238E27FC236}">
                <a16:creationId xmlns:a16="http://schemas.microsoft.com/office/drawing/2014/main" id="{CECE8700-003C-49B2-9C82-0EB89B3C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IMPROVE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BF5154E-3370-4D28-938B-EE65BE14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6" name="TextBox 14">
            <a:extLst xmlns:a="http://schemas.openxmlformats.org/drawingml/2006/main">
              <a:ext uri="{FF2B5EF4-FFF2-40B4-BE49-F238E27FC236}">
                <a16:creationId xmlns:a16="http://schemas.microsoft.com/office/drawing/2014/main" id="{2D4109AE-477F-4982-A9C6-73D3DE5F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DECIDE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A40D5DE-14E8-413F-9CAC-202EFF13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2011320" cy="23770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8" name="Oval 16">
            <a:extLst xmlns:a="http://schemas.openxmlformats.org/drawingml/2006/main">
              <a:ext uri="{FF2B5EF4-FFF2-40B4-BE49-F238E27FC236}">
                <a16:creationId xmlns:a16="http://schemas.microsoft.com/office/drawing/2014/main" id="{A190250A-BD6E-412C-A331-A84C4784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00" y="256032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9" name="TextBox 17">
            <a:extLst xmlns:a="http://schemas.openxmlformats.org/drawingml/2006/main">
              <a:ext uri="{FF2B5EF4-FFF2-40B4-BE49-F238E27FC236}">
                <a16:creationId xmlns:a16="http://schemas.microsoft.com/office/drawing/2014/main" id="{A5E50DA6-D977-49E0-B2A7-27F9A408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00" y="256032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TextBox 18">
            <a:extLst xmlns:a="http://schemas.openxmlformats.org/drawingml/2006/main">
              <a:ext uri="{FF2B5EF4-FFF2-40B4-BE49-F238E27FC236}">
                <a16:creationId xmlns:a16="http://schemas.microsoft.com/office/drawing/2014/main" id="{D3BB0D8B-9653-4991-A4B9-52A654B5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00" y="3108960"/>
            <a:ext cx="15541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ISSUE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TextBox 19">
            <a:extLst xmlns:a="http://schemas.openxmlformats.org/drawingml/2006/main">
              <a:ext uri="{FF2B5EF4-FFF2-40B4-BE49-F238E27FC236}">
                <a16:creationId xmlns:a16="http://schemas.microsoft.com/office/drawing/2014/main" id="{0BE5210C-6AF6-4491-847E-EA1316DF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00" y="3429000"/>
            <a:ext cx="1535760" cy="109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BeeVerse reports a problem closing tickets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TextBox 20">
            <a:extLst xmlns:a="http://schemas.openxmlformats.org/drawingml/2006/main">
              <a:ext uri="{FF2B5EF4-FFF2-40B4-BE49-F238E27FC236}">
                <a16:creationId xmlns:a16="http://schemas.microsoft.com/office/drawing/2014/main" id="{044990BB-ADF5-404A-A221-E5E83E45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246120"/>
            <a:ext cx="2649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600" b="1" u="none">
                <a:solidFill>
                  <a:srgbClr val="2375FF"/>
                </a:solidFill>
                <a:latin typeface="Arial"/>
                <a:ea typeface="Arial"/>
                <a:cs typeface="Arial"/>
              </a:rPr>
              <a:t>→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EC65B13A-4EDB-4E83-9718-9CDFC5B9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160" y="2286000"/>
            <a:ext cx="2011320" cy="23770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" name="Oval 22">
            <a:extLst xmlns:a="http://schemas.openxmlformats.org/drawingml/2006/main">
              <a:ext uri="{FF2B5EF4-FFF2-40B4-BE49-F238E27FC236}">
                <a16:creationId xmlns:a16="http://schemas.microsoft.com/office/drawing/2014/main" id="{B59E25D5-FB7B-4A02-B045-68A030C8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120" y="256032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TextBox 23">
            <a:extLst xmlns:a="http://schemas.openxmlformats.org/drawingml/2006/main">
              <a:ext uri="{FF2B5EF4-FFF2-40B4-BE49-F238E27FC236}">
                <a16:creationId xmlns:a16="http://schemas.microsoft.com/office/drawing/2014/main" id="{047399AC-1C68-4B32-A3F8-B08E12CB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120" y="256032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TextBox 24">
            <a:extLst xmlns:a="http://schemas.openxmlformats.org/drawingml/2006/main">
              <a:ext uri="{FF2B5EF4-FFF2-40B4-BE49-F238E27FC236}">
                <a16:creationId xmlns:a16="http://schemas.microsoft.com/office/drawing/2014/main" id="{95BDAC23-8099-46D0-9273-AACB9795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120" y="3108960"/>
            <a:ext cx="15541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INSPECT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TextBox 25">
            <a:extLst xmlns:a="http://schemas.openxmlformats.org/drawingml/2006/main">
              <a:ext uri="{FF2B5EF4-FFF2-40B4-BE49-F238E27FC236}">
                <a16:creationId xmlns:a16="http://schemas.microsoft.com/office/drawing/2014/main" id="{7F9875ED-5E19-4F59-B13B-CFDA74F7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120" y="3429000"/>
            <a:ext cx="1535760" cy="109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Read the report and inspect the software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TextBox 26">
            <a:extLst xmlns:a="http://schemas.openxmlformats.org/drawingml/2006/main">
              <a:ext uri="{FF2B5EF4-FFF2-40B4-BE49-F238E27FC236}">
                <a16:creationId xmlns:a16="http://schemas.microsoft.com/office/drawing/2014/main" id="{B968BB53-2A52-4D2E-B8AE-46AAC90F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840" y="3246120"/>
            <a:ext cx="2649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600" b="1" u="none">
                <a:solidFill>
                  <a:srgbClr val="2375FF"/>
                </a:solidFill>
                <a:latin typeface="Arial"/>
                <a:ea typeface="Arial"/>
                <a:cs typeface="Arial"/>
              </a:rPr>
              <a:t>→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09074849-E60C-40E0-8510-9CF5385E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680" y="2286000"/>
            <a:ext cx="2011320" cy="23770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0" name="Oval 28">
            <a:extLst xmlns:a="http://schemas.openxmlformats.org/drawingml/2006/main">
              <a:ext uri="{FF2B5EF4-FFF2-40B4-BE49-F238E27FC236}">
                <a16:creationId xmlns:a16="http://schemas.microsoft.com/office/drawing/2014/main" id="{0F03A7B0-71F1-4806-8599-FB79442C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640" y="256032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" name="TextBox 29">
            <a:extLst xmlns:a="http://schemas.openxmlformats.org/drawingml/2006/main">
              <a:ext uri="{FF2B5EF4-FFF2-40B4-BE49-F238E27FC236}">
                <a16:creationId xmlns:a16="http://schemas.microsoft.com/office/drawing/2014/main" id="{D4E44569-46CB-417B-A548-8E63BB86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640" y="256032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TextBox 30">
            <a:extLst xmlns:a="http://schemas.openxmlformats.org/drawingml/2006/main">
              <a:ext uri="{FF2B5EF4-FFF2-40B4-BE49-F238E27FC236}">
                <a16:creationId xmlns:a16="http://schemas.microsoft.com/office/drawing/2014/main" id="{CFA74338-3E85-4400-944C-12DE27FB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640" y="3108960"/>
            <a:ext cx="15541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PATCH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TextBox 31">
            <a:extLst xmlns:a="http://schemas.openxmlformats.org/drawingml/2006/main">
              <a:ext uri="{FF2B5EF4-FFF2-40B4-BE49-F238E27FC236}">
                <a16:creationId xmlns:a16="http://schemas.microsoft.com/office/drawing/2014/main" id="{62772525-2A48-4F95-9789-7258BDFF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640" y="3429000"/>
            <a:ext cx="1535760" cy="109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Propose a one-file repair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TextBox 32">
            <a:extLst xmlns:a="http://schemas.openxmlformats.org/drawingml/2006/main">
              <a:ext uri="{FF2B5EF4-FFF2-40B4-BE49-F238E27FC236}">
                <a16:creationId xmlns:a16="http://schemas.microsoft.com/office/drawing/2014/main" id="{6CCDE177-612A-4CA6-BCE7-1521784C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360" y="3246120"/>
            <a:ext cx="2649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600" b="1" u="none">
                <a:solidFill>
                  <a:srgbClr val="2375FF"/>
                </a:solidFill>
                <a:latin typeface="Arial"/>
                <a:ea typeface="Arial"/>
                <a:cs typeface="Arial"/>
              </a:rPr>
              <a:t>→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EC3BA8E6-DF23-4758-9201-A26E3757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840" y="2286000"/>
            <a:ext cx="2011320" cy="23770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Oval 34">
            <a:extLst xmlns:a="http://schemas.openxmlformats.org/drawingml/2006/main">
              <a:ext uri="{FF2B5EF4-FFF2-40B4-BE49-F238E27FC236}">
                <a16:creationId xmlns:a16="http://schemas.microsoft.com/office/drawing/2014/main" id="{CDB8E495-E631-4CC0-92A4-C09DF972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60" y="256032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7" name="TextBox 35">
            <a:extLst xmlns:a="http://schemas.openxmlformats.org/drawingml/2006/main">
              <a:ext uri="{FF2B5EF4-FFF2-40B4-BE49-F238E27FC236}">
                <a16:creationId xmlns:a16="http://schemas.microsoft.com/office/drawing/2014/main" id="{6128777A-35C4-48F8-9605-E60EBD8A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60" y="256032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TextBox 36">
            <a:extLst xmlns:a="http://schemas.openxmlformats.org/drawingml/2006/main">
              <a:ext uri="{FF2B5EF4-FFF2-40B4-BE49-F238E27FC236}">
                <a16:creationId xmlns:a16="http://schemas.microsoft.com/office/drawing/2014/main" id="{1D3C140A-D4BB-4B14-97C4-B1262C67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60" y="3108960"/>
            <a:ext cx="15541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CHECK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TextBox 37">
            <a:extLst xmlns:a="http://schemas.openxmlformats.org/drawingml/2006/main">
              <a:ext uri="{FF2B5EF4-FFF2-40B4-BE49-F238E27FC236}">
                <a16:creationId xmlns:a16="http://schemas.microsoft.com/office/drawing/2014/main" id="{875F6EA8-A861-42FE-AAC9-B4E36970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60" y="3429000"/>
            <a:ext cx="1535760" cy="109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Run three checks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TextBox 38">
            <a:extLst xmlns:a="http://schemas.openxmlformats.org/drawingml/2006/main">
              <a:ext uri="{FF2B5EF4-FFF2-40B4-BE49-F238E27FC236}">
                <a16:creationId xmlns:a16="http://schemas.microsoft.com/office/drawing/2014/main" id="{0EE89EB4-6E0C-43EA-9417-3DB2446A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520" y="3246120"/>
            <a:ext cx="2649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600" b="1" u="none">
                <a:solidFill>
                  <a:srgbClr val="2375FF"/>
                </a:solidFill>
                <a:latin typeface="Arial"/>
                <a:ea typeface="Arial"/>
                <a:cs typeface="Arial"/>
              </a:rPr>
              <a:t>→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1D6D13AB-1AAD-4EC9-A7FD-CE35C86E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0360" y="2286000"/>
            <a:ext cx="2011320" cy="23770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2" name="Oval 40">
            <a:extLst xmlns:a="http://schemas.openxmlformats.org/drawingml/2006/main">
              <a:ext uri="{FF2B5EF4-FFF2-40B4-BE49-F238E27FC236}">
                <a16:creationId xmlns:a16="http://schemas.microsoft.com/office/drawing/2014/main" id="{389A66A1-3ED1-4704-BF35-5B639932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320" y="256032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" name="TextBox 41">
            <a:extLst xmlns:a="http://schemas.openxmlformats.org/drawingml/2006/main">
              <a:ext uri="{FF2B5EF4-FFF2-40B4-BE49-F238E27FC236}">
                <a16:creationId xmlns:a16="http://schemas.microsoft.com/office/drawing/2014/main" id="{B717721B-A027-4658-BD45-D0C5F58E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320" y="256032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TextBox 42">
            <a:extLst xmlns:a="http://schemas.openxmlformats.org/drawingml/2006/main">
              <a:ext uri="{FF2B5EF4-FFF2-40B4-BE49-F238E27FC236}">
                <a16:creationId xmlns:a16="http://schemas.microsoft.com/office/drawing/2014/main" id="{1AB20BB3-DB4A-4C0D-A707-961424E2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320" y="3108960"/>
            <a:ext cx="15541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REVIEW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TextBox 43">
            <a:extLst xmlns:a="http://schemas.openxmlformats.org/drawingml/2006/main">
              <a:ext uri="{FF2B5EF4-FFF2-40B4-BE49-F238E27FC236}">
                <a16:creationId xmlns:a16="http://schemas.microsoft.com/office/drawing/2014/main" id="{2DC02093-E73D-483A-ADFC-43D378D8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320" y="3429000"/>
            <a:ext cx="1535760" cy="109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Send the repair for human review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TextBox 44">
            <a:extLst xmlns:a="http://schemas.openxmlformats.org/drawingml/2006/main">
              <a:ext uri="{FF2B5EF4-FFF2-40B4-BE49-F238E27FC236}">
                <a16:creationId xmlns:a16="http://schemas.microsoft.com/office/drawing/2014/main" id="{61DE0D97-6A24-49EC-BE49-428040B4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110638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50" b="0" i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Versions 1 and 2 are prepared. The LLM judge is the only live model call in this workshop.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TextBox 45">
            <a:extLst xmlns:a="http://schemas.openxmlformats.org/drawingml/2006/main">
              <a:ext uri="{FF2B5EF4-FFF2-40B4-BE49-F238E27FC236}">
                <a16:creationId xmlns:a16="http://schemas.microsoft.com/office/drawing/2014/main" id="{709D8802-FCF3-419D-B9A4-803E1DD1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AI AGENT — SOFTWARE THAT USES A MODEL, INSTRUCTIONS, AND TOOLS TO COMPLETE A TASK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TextBox 46">
            <a:extLst xmlns:a="http://schemas.openxmlformats.org/drawingml/2006/main">
              <a:ext uri="{FF2B5EF4-FFF2-40B4-BE49-F238E27FC236}">
                <a16:creationId xmlns:a16="http://schemas.microsoft.com/office/drawing/2014/main" id="{34F8794F-2249-45AB-85A7-8DE20456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05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98119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TextBox 1">
            <a:extLst xmlns:a="http://schemas.openxmlformats.org/drawingml/2006/main">
              <a:ext uri="{FF2B5EF4-FFF2-40B4-BE49-F238E27FC236}">
                <a16:creationId xmlns:a16="http://schemas.microsoft.com/office/drawing/2014/main" id="{306DC96A-6C85-4A47-890F-A61B7469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FRAMEWORK • COREWEAVE AI LOOP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TextBox 2">
            <a:extLst xmlns:a="http://schemas.openxmlformats.org/drawingml/2006/main">
              <a:ext uri="{FF2B5EF4-FFF2-40B4-BE49-F238E27FC236}">
                <a16:creationId xmlns:a16="http://schemas.microsoft.com/office/drawing/2014/main" id="{880A9CCF-23C9-41A3-A4CF-F7112D1E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0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Run → Observe → Curate → Evaluate → Improve → repeat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CADD6BA-F2E4-4D31-B925-AA39851B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2" name="TextBox 4">
            <a:extLst xmlns:a="http://schemas.openxmlformats.org/drawingml/2006/main">
              <a:ext uri="{FF2B5EF4-FFF2-40B4-BE49-F238E27FC236}">
                <a16:creationId xmlns:a16="http://schemas.microsoft.com/office/drawing/2014/main" id="{816BFEFC-572A-4175-B630-3DBDCD04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RUN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C719581-FD54-4D90-BCE1-655359A4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4" name="TextBox 6">
            <a:extLst xmlns:a="http://schemas.openxmlformats.org/drawingml/2006/main">
              <a:ext uri="{FF2B5EF4-FFF2-40B4-BE49-F238E27FC236}">
                <a16:creationId xmlns:a16="http://schemas.microsoft.com/office/drawing/2014/main" id="{338E1B6C-1DE5-4A20-AF37-065479EF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5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2FFD614-3774-4DF1-A065-978BCF64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6" name="TextBox 8">
            <a:extLst xmlns:a="http://schemas.openxmlformats.org/drawingml/2006/main">
              <a:ext uri="{FF2B5EF4-FFF2-40B4-BE49-F238E27FC236}">
                <a16:creationId xmlns:a16="http://schemas.microsoft.com/office/drawing/2014/main" id="{FD723D94-20E0-4825-BA68-209FEE56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CURATE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DBABC5E-0118-4798-887F-398C25AB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8" name="TextBox 10">
            <a:extLst xmlns:a="http://schemas.openxmlformats.org/drawingml/2006/main">
              <a:ext uri="{FF2B5EF4-FFF2-40B4-BE49-F238E27FC236}">
                <a16:creationId xmlns:a16="http://schemas.microsoft.com/office/drawing/2014/main" id="{867D27E5-78A5-47C0-994B-A09311E1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E21A572-2188-4469-88BB-31D912AE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0" name="TextBox 12">
            <a:extLst xmlns:a="http://schemas.openxmlformats.org/drawingml/2006/main">
              <a:ext uri="{FF2B5EF4-FFF2-40B4-BE49-F238E27FC236}">
                <a16:creationId xmlns:a16="http://schemas.microsoft.com/office/drawing/2014/main" id="{78B20603-0B5A-457D-B817-8A1CAF7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IMPROVE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1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3AEBDB3-27F0-4ACA-BEBC-83F59AF4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2" name="TextBox 14">
            <a:extLst xmlns:a="http://schemas.openxmlformats.org/drawingml/2006/main">
              <a:ext uri="{FF2B5EF4-FFF2-40B4-BE49-F238E27FC236}">
                <a16:creationId xmlns:a16="http://schemas.microsoft.com/office/drawing/2014/main" id="{97925FB9-42C3-4374-A17C-3549611F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F7D03F3C-AEF6-417B-A36E-C3BB5175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1627200" cy="475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TextBox 16">
            <a:extLst xmlns:a="http://schemas.openxmlformats.org/drawingml/2006/main">
              <a:ext uri="{FF2B5EF4-FFF2-40B4-BE49-F238E27FC236}">
                <a16:creationId xmlns:a16="http://schemas.microsoft.com/office/drawing/2014/main" id="{2A709063-EE1D-48C7-BC8C-E75CAC64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1627200" cy="47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RUN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TextBox 17">
            <a:extLst xmlns:a="http://schemas.openxmlformats.org/drawingml/2006/main">
              <a:ext uri="{FF2B5EF4-FFF2-40B4-BE49-F238E27FC236}">
                <a16:creationId xmlns:a16="http://schemas.microsoft.com/office/drawing/2014/main" id="{2497D7EE-CD15-411F-8367-B4D01400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926080"/>
            <a:ext cx="18284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1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PatchPilot V1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TextBox 18">
            <a:extLst xmlns:a="http://schemas.openxmlformats.org/drawingml/2006/main">
              <a:ext uri="{FF2B5EF4-FFF2-40B4-BE49-F238E27FC236}">
                <a16:creationId xmlns:a16="http://schemas.microsoft.com/office/drawing/2014/main" id="{24890B46-82DC-43BE-A6CD-090F9BBE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00" y="2350080"/>
            <a:ext cx="2649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5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→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AF38F6-B59E-4130-AD44-22F05948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520" y="2331720"/>
            <a:ext cx="1627200" cy="475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TextBox 20">
            <a:extLst xmlns:a="http://schemas.openxmlformats.org/drawingml/2006/main">
              <a:ext uri="{FF2B5EF4-FFF2-40B4-BE49-F238E27FC236}">
                <a16:creationId xmlns:a16="http://schemas.microsoft.com/office/drawing/2014/main" id="{C070D9D0-EC5A-4723-A6F9-002BE695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520" y="2331720"/>
            <a:ext cx="1627200" cy="47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TextBox 21">
            <a:extLst xmlns:a="http://schemas.openxmlformats.org/drawingml/2006/main">
              <a:ext uri="{FF2B5EF4-FFF2-40B4-BE49-F238E27FC236}">
                <a16:creationId xmlns:a16="http://schemas.microsoft.com/office/drawing/2014/main" id="{6DB16F28-8589-4079-9F17-776AD793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720" y="2926080"/>
            <a:ext cx="18284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1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Inspect trace + add annotation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TextBox 22">
            <a:extLst xmlns:a="http://schemas.openxmlformats.org/drawingml/2006/main">
              <a:ext uri="{FF2B5EF4-FFF2-40B4-BE49-F238E27FC236}">
                <a16:creationId xmlns:a16="http://schemas.microsoft.com/office/drawing/2014/main" id="{66C01C14-CCB7-4373-9A63-D5BEC67E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350080"/>
            <a:ext cx="2649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5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→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971D14B2-61CF-426A-B915-83226CC1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2331720"/>
            <a:ext cx="1627200" cy="475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2" name="TextBox 24">
            <a:extLst xmlns:a="http://schemas.openxmlformats.org/drawingml/2006/main">
              <a:ext uri="{FF2B5EF4-FFF2-40B4-BE49-F238E27FC236}">
                <a16:creationId xmlns:a16="http://schemas.microsoft.com/office/drawing/2014/main" id="{D29BB654-01E4-4049-9B82-45670AD3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2331720"/>
            <a:ext cx="1627200" cy="47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CURATE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TextBox 25">
            <a:extLst xmlns:a="http://schemas.openxmlformats.org/drawingml/2006/main">
              <a:ext uri="{FF2B5EF4-FFF2-40B4-BE49-F238E27FC236}">
                <a16:creationId xmlns:a16="http://schemas.microsoft.com/office/drawing/2014/main" id="{22B746B7-E62C-462B-AD70-DA46BE8B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00" y="2926080"/>
            <a:ext cx="18284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1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Build four test cases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4" name="TextBox 26">
            <a:extLst xmlns:a="http://schemas.openxmlformats.org/drawingml/2006/main">
              <a:ext uri="{FF2B5EF4-FFF2-40B4-BE49-F238E27FC236}">
                <a16:creationId xmlns:a16="http://schemas.microsoft.com/office/drawing/2014/main" id="{84D6712A-D807-40B8-9027-53A94AF1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960" y="2350080"/>
            <a:ext cx="2649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5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→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5B666059-7E67-4DE3-BD18-DF8DF1D7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920" y="2331720"/>
            <a:ext cx="1627200" cy="475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6" name="TextBox 28">
            <a:extLst xmlns:a="http://schemas.openxmlformats.org/drawingml/2006/main">
              <a:ext uri="{FF2B5EF4-FFF2-40B4-BE49-F238E27FC236}">
                <a16:creationId xmlns:a16="http://schemas.microsoft.com/office/drawing/2014/main" id="{C2950579-DB31-4E0D-8F5A-B3157A32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920" y="2331720"/>
            <a:ext cx="1627200" cy="47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7" name="TextBox 29">
            <a:extLst xmlns:a="http://schemas.openxmlformats.org/drawingml/2006/main">
              <a:ext uri="{FF2B5EF4-FFF2-40B4-BE49-F238E27FC236}">
                <a16:creationId xmlns:a16="http://schemas.microsoft.com/office/drawing/2014/main" id="{B31F6695-2A3D-4605-BC2C-740ADFD6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926080"/>
            <a:ext cx="18284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1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Score all four cases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8" name="TextBox 30">
            <a:extLst xmlns:a="http://schemas.openxmlformats.org/drawingml/2006/main">
              <a:ext uri="{FF2B5EF4-FFF2-40B4-BE49-F238E27FC236}">
                <a16:creationId xmlns:a16="http://schemas.microsoft.com/office/drawing/2014/main" id="{DF878047-6466-490F-887C-710EB6E1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840" y="2350080"/>
            <a:ext cx="2649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5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→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9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1344046A-FDF2-40B6-A213-7FDBDD11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00" y="2331720"/>
            <a:ext cx="1627200" cy="475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0" name="TextBox 32">
            <a:extLst xmlns:a="http://schemas.openxmlformats.org/drawingml/2006/main">
              <a:ext uri="{FF2B5EF4-FFF2-40B4-BE49-F238E27FC236}">
                <a16:creationId xmlns:a16="http://schemas.microsoft.com/office/drawing/2014/main" id="{A5755564-2447-4BAC-9F48-E25D9FE4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00" y="2331720"/>
            <a:ext cx="1627200" cy="47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IMPROVE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1" name="TextBox 33">
            <a:extLst xmlns:a="http://schemas.openxmlformats.org/drawingml/2006/main">
              <a:ext uri="{FF2B5EF4-FFF2-40B4-BE49-F238E27FC236}">
                <a16:creationId xmlns:a16="http://schemas.microsoft.com/office/drawing/2014/main" id="{CC812466-C300-465E-AD48-021B83EF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360" y="2926080"/>
            <a:ext cx="18284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1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PatchPilot V2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2" name="TextBox 34">
            <a:extLst xmlns:a="http://schemas.openxmlformats.org/drawingml/2006/main">
              <a:ext uri="{FF2B5EF4-FFF2-40B4-BE49-F238E27FC236}">
                <a16:creationId xmlns:a16="http://schemas.microsoft.com/office/drawing/2014/main" id="{3B97394F-5998-4C20-BE24-004EAD43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360" y="2350080"/>
            <a:ext cx="2649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5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→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3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3FD71F42-D576-4EDC-9C65-E499F167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331720"/>
            <a:ext cx="1627200" cy="475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4" name="TextBox 36">
            <a:extLst xmlns:a="http://schemas.openxmlformats.org/drawingml/2006/main">
              <a:ext uri="{FF2B5EF4-FFF2-40B4-BE49-F238E27FC236}">
                <a16:creationId xmlns:a16="http://schemas.microsoft.com/office/drawing/2014/main" id="{6A276493-0B8D-4E94-887E-B5E21784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331720"/>
            <a:ext cx="1627200" cy="47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5" name="TextBox 37">
            <a:extLst xmlns:a="http://schemas.openxmlformats.org/drawingml/2006/main">
              <a:ext uri="{FF2B5EF4-FFF2-40B4-BE49-F238E27FC236}">
                <a16:creationId xmlns:a16="http://schemas.microsoft.com/office/drawing/2014/main" id="{7A20333D-D409-4DC4-A6A0-89A48B18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240" y="2926080"/>
            <a:ext cx="18284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1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Compare, decide, repeat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52" name="Connector 38"/>
          <p:cNvCxnSpPr/>
          <p:nvPr/>
        </p:nvCxnSpPr>
        <p:spPr>
          <a:xfrm xmlns:a="http://schemas.openxmlformats.org/drawingml/2006/main">
            <a:off x="10826280" y="3703320"/>
            <a:ext cx="360" cy="41184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5FF"/>
            </a:solidFill>
            <a:round/>
          </a:ln>
        </p:spPr>
      </p:cxnSp>
      <p:cxnSp>
        <p:nvCxnSpPr>
          <p:cNvPr id="453" name="Connector 39"/>
          <p:cNvCxnSpPr/>
          <p:nvPr/>
        </p:nvCxnSpPr>
        <p:spPr>
          <a:xfrm xmlns:a="http://schemas.openxmlformats.org/drawingml/2006/main" flipH="1">
            <a:off x="1362240" y="4114800"/>
            <a:ext cx="9464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5FF"/>
            </a:solidFill>
            <a:round/>
          </a:ln>
        </p:spPr>
      </p:cxnSp>
      <p:cxnSp>
        <p:nvCxnSpPr>
          <p:cNvPr id="454" name="Connector 40"/>
          <p:cNvCxnSpPr/>
          <p:nvPr/>
        </p:nvCxnSpPr>
        <p:spPr>
          <a:xfrm xmlns:a="http://schemas.openxmlformats.org/drawingml/2006/main" flipV="1">
            <a:off x="1362240" y="3703320"/>
            <a:ext cx="360" cy="41184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5FF"/>
            </a:solidFill>
            <a:round/>
            <a:tailEnd type="triangle" w="med" len="med"/>
          </a:ln>
        </p:spPr>
      </p:cxnSp>
      <p:sp>
        <p:nvSpPr>
          <p:cNvPr id="249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A5782146-380A-4ED1-B990-E8B9012D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120" y="3913560"/>
            <a:ext cx="1096920" cy="3106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0" name="TextBox 42">
            <a:extLst xmlns:a="http://schemas.openxmlformats.org/drawingml/2006/main">
              <a:ext uri="{FF2B5EF4-FFF2-40B4-BE49-F238E27FC236}">
                <a16:creationId xmlns:a16="http://schemas.microsoft.com/office/drawing/2014/main" id="{AEF461F8-D64C-47F1-914D-42B338E6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120" y="3913560"/>
            <a:ext cx="109692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900" b="1" u="none" spc="99">
                <a:solidFill>
                  <a:srgbClr val="2375FF"/>
                </a:solidFill>
                <a:latin typeface="Arial"/>
                <a:ea typeface="Arial"/>
                <a:cs typeface="Arial"/>
              </a:rPr>
              <a:t>REPEAT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C9767617-1D91-48C4-8095-E7888414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11091240" cy="822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2" name="TextBox 44">
            <a:extLst xmlns:a="http://schemas.openxmlformats.org/drawingml/2006/main">
              <a:ext uri="{FF2B5EF4-FFF2-40B4-BE49-F238E27FC236}">
                <a16:creationId xmlns:a16="http://schemas.microsoft.com/office/drawing/2014/main" id="{E9ADC209-B003-40D9-B21C-250C6399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92040"/>
            <a:ext cx="10423800" cy="82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We will use this loop to turn one software repair into evidence for a decision.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TextBox 45">
            <a:extLst xmlns:a="http://schemas.openxmlformats.org/drawingml/2006/main">
              <a:ext uri="{FF2B5EF4-FFF2-40B4-BE49-F238E27FC236}">
                <a16:creationId xmlns:a16="http://schemas.microsoft.com/office/drawing/2014/main" id="{DBA602DB-EA45-48E5-996D-E3903590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OFFICIAL COREWEAVE AI LOOP • CONTEXT FOR TODAY'S WORKSHOP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TextBox 46">
            <a:extLst xmlns:a="http://schemas.openxmlformats.org/drawingml/2006/main">
              <a:ext uri="{FF2B5EF4-FFF2-40B4-BE49-F238E27FC236}">
                <a16:creationId xmlns:a16="http://schemas.microsoft.com/office/drawing/2014/main" id="{039D5E9A-4833-4CF9-8E1A-BF467682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06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90280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5" name="TextBox 1">
            <a:extLst xmlns:a="http://schemas.openxmlformats.org/drawingml/2006/main">
              <a:ext uri="{FF2B5EF4-FFF2-40B4-BE49-F238E27FC236}">
                <a16:creationId xmlns:a16="http://schemas.microsoft.com/office/drawing/2014/main" id="{10F1671A-52A4-4C34-8DF5-281DCD0E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HOW WEAVE TURNS THE RUN INTO EVIDENCE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6" name="TextBox 2">
            <a:extLst xmlns:a="http://schemas.openxmlformats.org/drawingml/2006/main">
              <a:ext uri="{FF2B5EF4-FFF2-40B4-BE49-F238E27FC236}">
                <a16:creationId xmlns:a16="http://schemas.microsoft.com/office/drawing/2014/main" id="{B4031AA7-9521-4259-A006-8A1B698C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1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Weave records each run and helps us test changes</a:t>
            </a:r>
            <a:endParaRPr sz="3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84C31DA0-0FF5-4CB1-8BA9-1405AED1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8" name="TextBox 4">
            <a:extLst xmlns:a="http://schemas.openxmlformats.org/drawingml/2006/main">
              <a:ext uri="{FF2B5EF4-FFF2-40B4-BE49-F238E27FC236}">
                <a16:creationId xmlns:a16="http://schemas.microsoft.com/office/drawing/2014/main" id="{B5BDBFA3-7EE0-4B10-BBCA-C8BF19CA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RUN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6AC225A-AF9C-4C9A-BEB7-42C33F80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0" name="TextBox 6">
            <a:extLst xmlns:a="http://schemas.openxmlformats.org/drawingml/2006/main">
              <a:ext uri="{FF2B5EF4-FFF2-40B4-BE49-F238E27FC236}">
                <a16:creationId xmlns:a16="http://schemas.microsoft.com/office/drawing/2014/main" id="{5F4B6B01-602B-4DDD-AF52-81ABA452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C9776A0-5031-47CA-AD8B-EFD6DC08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2" name="TextBox 8">
            <a:extLst xmlns:a="http://schemas.openxmlformats.org/drawingml/2006/main">
              <a:ext uri="{FF2B5EF4-FFF2-40B4-BE49-F238E27FC236}">
                <a16:creationId xmlns:a16="http://schemas.microsoft.com/office/drawing/2014/main" id="{979E4C7A-A3E0-4E36-BF56-2DB20734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CURATE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2755423-A4ED-42ED-9A30-1B2E6419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4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FBF7A4-BA91-4E54-B700-85E0BD56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EVALUATE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5A4D587-CE99-4BFD-BE5D-1AF44B7E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6" name="TextBox 12">
            <a:extLst xmlns:a="http://schemas.openxmlformats.org/drawingml/2006/main">
              <a:ext uri="{FF2B5EF4-FFF2-40B4-BE49-F238E27FC236}">
                <a16:creationId xmlns:a16="http://schemas.microsoft.com/office/drawing/2014/main" id="{1D912857-A73E-4289-B43D-B76EFF9D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IMPROVE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C5F95AE-862D-4440-9BEF-158B7657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8" name="TextBox 14">
            <a:extLst xmlns:a="http://schemas.openxmlformats.org/drawingml/2006/main">
              <a:ext uri="{FF2B5EF4-FFF2-40B4-BE49-F238E27FC236}">
                <a16:creationId xmlns:a16="http://schemas.microsoft.com/office/drawing/2014/main" id="{893FC573-13A5-4305-A4D6-DAF476C9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DECIDE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TextBox 15">
            <a:extLst xmlns:a="http://schemas.openxmlformats.org/drawingml/2006/main">
              <a:ext uri="{FF2B5EF4-FFF2-40B4-BE49-F238E27FC236}">
                <a16:creationId xmlns:a16="http://schemas.microsoft.com/office/drawing/2014/main" id="{F9708E54-B731-41C4-8890-8DA4ACA0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4571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THE CHAIN WE WILL BUILD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A11A53E-AEB6-400B-BD3D-C6177547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5394600" cy="5482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1" name="TextBox 17">
            <a:extLst xmlns:a="http://schemas.openxmlformats.org/drawingml/2006/main">
              <a:ext uri="{FF2B5EF4-FFF2-40B4-BE49-F238E27FC236}">
                <a16:creationId xmlns:a16="http://schemas.microsoft.com/office/drawing/2014/main" id="{81D60980-042A-4A08-8016-CAD6A42A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475452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00" b="1" u="none" spc="99">
                <a:solidFill>
                  <a:srgbClr val="0B0F16"/>
                </a:solidFill>
                <a:latin typeface="Arial"/>
                <a:ea typeface="Arial"/>
                <a:cs typeface="Arial"/>
              </a:rPr>
              <a:t>PATCHPILOT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TextBox 18">
            <a:extLst xmlns:a="http://schemas.openxmlformats.org/drawingml/2006/main">
              <a:ext uri="{FF2B5EF4-FFF2-40B4-BE49-F238E27FC236}">
                <a16:creationId xmlns:a16="http://schemas.microsoft.com/office/drawing/2014/main" id="{F6CCD7AF-4A49-414D-B6D6-480EC0EB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2898720"/>
            <a:ext cx="47545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1" u="none">
                <a:solidFill>
                  <a:srgbClr val="2375FF"/>
                </a:solidFill>
                <a:latin typeface="Arial"/>
                <a:ea typeface="Arial"/>
                <a:cs typeface="Arial"/>
              </a:rPr>
              <a:t>↓  @weave.op records each step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90D40C5A-D9C8-44BC-9633-2EFB70B3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92280"/>
            <a:ext cx="5394600" cy="5482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TextBox 20">
            <a:extLst xmlns:a="http://schemas.openxmlformats.org/drawingml/2006/main">
              <a:ext uri="{FF2B5EF4-FFF2-40B4-BE49-F238E27FC236}">
                <a16:creationId xmlns:a16="http://schemas.microsoft.com/office/drawing/2014/main" id="{D5D612AA-688E-4F7D-9EDE-34B1345A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92280"/>
            <a:ext cx="475452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00" b="1" u="none" spc="99">
                <a:solidFill>
                  <a:srgbClr val="0B0F16"/>
                </a:solidFill>
                <a:latin typeface="Arial"/>
                <a:ea typeface="Arial"/>
                <a:cs typeface="Arial"/>
              </a:rPr>
              <a:t>CALLS + TRACE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TextBox 21">
            <a:extLst xmlns:a="http://schemas.openxmlformats.org/drawingml/2006/main">
              <a:ext uri="{FF2B5EF4-FFF2-40B4-BE49-F238E27FC236}">
                <a16:creationId xmlns:a16="http://schemas.microsoft.com/office/drawing/2014/main" id="{7D7A8D88-9595-4E17-96D5-6C820AB3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4050720"/>
            <a:ext cx="47545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1" u="none">
                <a:solidFill>
                  <a:srgbClr val="2375FF"/>
                </a:solidFill>
                <a:latin typeface="Arial"/>
                <a:ea typeface="Arial"/>
                <a:cs typeface="Arial"/>
              </a:rPr>
              <a:t>↓  A dataset supplies repeatable cases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A8D7197E-D195-4C9D-BE0B-90592254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44640"/>
            <a:ext cx="5394600" cy="5482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7" name="TextBox 23">
            <a:extLst xmlns:a="http://schemas.openxmlformats.org/drawingml/2006/main">
              <a:ext uri="{FF2B5EF4-FFF2-40B4-BE49-F238E27FC236}">
                <a16:creationId xmlns:a16="http://schemas.microsoft.com/office/drawing/2014/main" id="{F4764065-7083-4DB4-813E-DE558DB2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44640"/>
            <a:ext cx="475452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00" b="1" u="none" spc="99">
                <a:solidFill>
                  <a:srgbClr val="0B0F16"/>
                </a:solidFill>
                <a:latin typeface="Arial"/>
                <a:ea typeface="Arial"/>
                <a:cs typeface="Arial"/>
              </a:rPr>
              <a:t>EVALUATION RUNS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8" name="TextBox 24">
            <a:extLst xmlns:a="http://schemas.openxmlformats.org/drawingml/2006/main">
              <a:ext uri="{FF2B5EF4-FFF2-40B4-BE49-F238E27FC236}">
                <a16:creationId xmlns:a16="http://schemas.microsoft.com/office/drawing/2014/main" id="{2B3D3E07-AB10-472D-AC9F-6E2A067E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5203080"/>
            <a:ext cx="47545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1" u="none">
                <a:solidFill>
                  <a:srgbClr val="2375FF"/>
                </a:solidFill>
                <a:latin typeface="Arial"/>
                <a:ea typeface="Arial"/>
                <a:cs typeface="Arial"/>
              </a:rPr>
              <a:t>↓  Compare Version 1 and Version 2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TextBox 25">
            <a:extLst xmlns:a="http://schemas.openxmlformats.org/drawingml/2006/main">
              <a:ext uri="{FF2B5EF4-FFF2-40B4-BE49-F238E27FC236}">
                <a16:creationId xmlns:a16="http://schemas.microsoft.com/office/drawing/2014/main" id="{016E4E42-9E85-44DE-B450-94D6D2F1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33800"/>
            <a:ext cx="5394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i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The LLM judge is the only live model call in this workshop.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0" name="Picture 26">
            <a:extLst xmlns:a="http://schemas.openxmlformats.org/drawingml/2006/main">
              <a:ext uri="{FF2B5EF4-FFF2-40B4-BE49-F238E27FC236}">
                <a16:creationId xmlns:a16="http://schemas.microsoft.com/office/drawing/2014/main" id="{02C941F3-DE63-4A06-8EBA-097A91C5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920240"/>
            <a:ext cx="5166000" cy="2907360"/>
          </a:xfrm>
          <a:prstGeom xmlns:a="http://schemas.openxmlformats.org/drawingml/2006/main" prst="roundRect">
            <a:avLst>
              <a:gd name="adj" fmla="val 5000"/>
            </a:avLst>
          </a:prstGeom>
          <a:blipFill xmlns:a="http://schemas.openxmlformats.org/drawingml/2006/main" rotWithShape="0">
            <a:blip xmlns:r="http://schemas.openxmlformats.org/officeDocument/2006/relationships" r:embed="Reaed2ce51a6d4086"/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56DC1310-02C4-448F-9C53-186F30D2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029200"/>
            <a:ext cx="5166000" cy="109692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2" name="TextBox 28">
            <a:extLst xmlns:a="http://schemas.openxmlformats.org/drawingml/2006/main">
              <a:ext uri="{FF2B5EF4-FFF2-40B4-BE49-F238E27FC236}">
                <a16:creationId xmlns:a16="http://schemas.microsoft.com/office/drawing/2014/main" id="{10F76246-1191-4F67-8620-5816C5E3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5139000"/>
            <a:ext cx="45716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sz="95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WHAT IS WEIGHTS &amp; BIASES?</a:t>
            </a:r>
            <a:endParaRPr sz="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buNone/>
            </a:pPr>
            <a:endParaRPr sz="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3" name="TextBox 29">
            <a:extLst xmlns:a="http://schemas.openxmlformats.org/drawingml/2006/main">
              <a:ext uri="{FF2B5EF4-FFF2-40B4-BE49-F238E27FC236}">
                <a16:creationId xmlns:a16="http://schemas.microsoft.com/office/drawing/2014/main" id="{D350D37C-30A6-4E5F-87BD-19BA91BE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5413320"/>
            <a:ext cx="4571640" cy="6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W&amp;B is CoreWeave’s platform for building and improving AI applications. Weave records the work, test cases, and evaluation results.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4" name="TextBox 30">
            <a:extLst xmlns:a="http://schemas.openxmlformats.org/drawingml/2006/main">
              <a:ext uri="{FF2B5EF4-FFF2-40B4-BE49-F238E27FC236}">
                <a16:creationId xmlns:a16="http://schemas.microsoft.com/office/drawing/2014/main" id="{28E7709B-E469-42F0-B913-7B14031A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WEAVE RECORDS RUNS • VERSIONS DATASETS • RUNS EVALUATIONS • COMPARES RESULTS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5" name="TextBox 31">
            <a:extLst xmlns:a="http://schemas.openxmlformats.org/drawingml/2006/main">
              <a:ext uri="{FF2B5EF4-FFF2-40B4-BE49-F238E27FC236}">
                <a16:creationId xmlns:a16="http://schemas.microsoft.com/office/drawing/2014/main" id="{4DC363EB-DC13-48A0-A2BB-3F216DB4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07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09921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6" name="TextBox 1">
            <a:extLst xmlns:a="http://schemas.openxmlformats.org/drawingml/2006/main">
              <a:ext uri="{FF2B5EF4-FFF2-40B4-BE49-F238E27FC236}">
                <a16:creationId xmlns:a16="http://schemas.microsoft.com/office/drawing/2014/main" id="{6FC76228-6FA7-43BB-B4E3-A42DF2EA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THE SHARED VOCABULARY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7" name="TextBox 2">
            <a:extLst xmlns:a="http://schemas.openxmlformats.org/drawingml/2006/main">
              <a:ext uri="{FF2B5EF4-FFF2-40B4-BE49-F238E27FC236}">
                <a16:creationId xmlns:a16="http://schemas.microsoft.com/office/drawing/2014/main" id="{0CECD460-5A81-4498-8CB2-565C8C1F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3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The terms we’ll use today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8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B1B2AEE-8ECE-4EA3-8789-73B2515F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10440"/>
            <a:ext cx="11091240" cy="8409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9" name="TextBox 4">
            <a:extLst xmlns:a="http://schemas.openxmlformats.org/drawingml/2006/main">
              <a:ext uri="{FF2B5EF4-FFF2-40B4-BE49-F238E27FC236}">
                <a16:creationId xmlns:a16="http://schemas.microsoft.com/office/drawing/2014/main" id="{5FA0A08D-9D11-4B6E-86AF-AEBC22E9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10440"/>
            <a:ext cx="10423800" cy="840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W&amp;B WEAVE   </a:t>
            </a:r>
            <a:r>
              <a:rPr sz="13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Records AI application runs and helps teams test and compare them.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0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1D18EDC-AA93-4E19-82C3-5C6D32E6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34640"/>
            <a:ext cx="3593160" cy="1042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1" name="TextBox 6">
            <a:extLst xmlns:a="http://schemas.openxmlformats.org/drawingml/2006/main">
              <a:ext uri="{FF2B5EF4-FFF2-40B4-BE49-F238E27FC236}">
                <a16:creationId xmlns:a16="http://schemas.microsoft.com/office/drawing/2014/main" id="{CD6AEFA5-E970-4C9A-8E60-DF5540A2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53440"/>
            <a:ext cx="315432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TRACE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2" name="TextBox 7">
            <a:extLst xmlns:a="http://schemas.openxmlformats.org/drawingml/2006/main">
              <a:ext uri="{FF2B5EF4-FFF2-40B4-BE49-F238E27FC236}">
                <a16:creationId xmlns:a16="http://schemas.microsoft.com/office/drawing/2014/main" id="{0B4C0A23-B426-4C1B-8F47-89D06585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18760"/>
            <a:ext cx="315432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What happened during one complete run.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E821158-6FC3-4D11-A5E2-549A3D9E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000" y="2834640"/>
            <a:ext cx="3593160" cy="1042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4" name="TextBox 9">
            <a:extLst xmlns:a="http://schemas.openxmlformats.org/drawingml/2006/main">
              <a:ext uri="{FF2B5EF4-FFF2-40B4-BE49-F238E27FC236}">
                <a16:creationId xmlns:a16="http://schemas.microsoft.com/office/drawing/2014/main" id="{993A87DF-8AD3-44D7-9A49-DE64AF77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600" y="2953440"/>
            <a:ext cx="315432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CALL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5" name="TextBox 10">
            <a:extLst xmlns:a="http://schemas.openxmlformats.org/drawingml/2006/main">
              <a:ext uri="{FF2B5EF4-FFF2-40B4-BE49-F238E27FC236}">
                <a16:creationId xmlns:a16="http://schemas.microsoft.com/office/drawing/2014/main" id="{C79CFC3D-92CF-41F9-81FF-F342A435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600" y="3218760"/>
            <a:ext cx="315432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One recorded step inside that run. @weave.op marks the function to record.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6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88AD80B-3387-4DA9-B743-25804C56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720" y="2834640"/>
            <a:ext cx="3593160" cy="1042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TextBox 12">
            <a:extLst xmlns:a="http://schemas.openxmlformats.org/drawingml/2006/main">
              <a:ext uri="{FF2B5EF4-FFF2-40B4-BE49-F238E27FC236}">
                <a16:creationId xmlns:a16="http://schemas.microsoft.com/office/drawing/2014/main" id="{8DA33C19-C59F-4338-86C3-DBEDAE19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320" y="2953440"/>
            <a:ext cx="315432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ANNOTATION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8" name="TextBox 13">
            <a:extLst xmlns:a="http://schemas.openxmlformats.org/drawingml/2006/main">
              <a:ext uri="{FF2B5EF4-FFF2-40B4-BE49-F238E27FC236}">
                <a16:creationId xmlns:a16="http://schemas.microsoft.com/office/drawing/2014/main" id="{68E31662-5653-4905-A22C-423E9A89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320" y="3218760"/>
            <a:ext cx="315432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Human feedback saved with a recorded step.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9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7D18B88-2364-43CA-8DD7-B39CA7F2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05000"/>
            <a:ext cx="3593160" cy="1042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0" name="TextBox 15">
            <a:extLst xmlns:a="http://schemas.openxmlformats.org/drawingml/2006/main">
              <a:ext uri="{FF2B5EF4-FFF2-40B4-BE49-F238E27FC236}">
                <a16:creationId xmlns:a16="http://schemas.microsoft.com/office/drawing/2014/main" id="{FFCEFF0F-9265-4DB2-8D1C-CB643CEA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23800"/>
            <a:ext cx="315432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DATASET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1" name="TextBox 16">
            <a:extLst xmlns:a="http://schemas.openxmlformats.org/drawingml/2006/main">
              <a:ext uri="{FF2B5EF4-FFF2-40B4-BE49-F238E27FC236}">
                <a16:creationId xmlns:a16="http://schemas.microsoft.com/office/drawing/2014/main" id="{06D074B4-AEA1-4243-897F-6A7D89CC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315432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A saved set of cases we can test again.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9A1282D-F6DD-488B-87C0-2ABB8E10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000" y="4005000"/>
            <a:ext cx="3593160" cy="1042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3" name="TextBox 18">
            <a:extLst xmlns:a="http://schemas.openxmlformats.org/drawingml/2006/main">
              <a:ext uri="{FF2B5EF4-FFF2-40B4-BE49-F238E27FC236}">
                <a16:creationId xmlns:a16="http://schemas.microsoft.com/office/drawing/2014/main" id="{7A48771F-F6E0-4F00-881F-D67A7084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600" y="4123800"/>
            <a:ext cx="315432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SCORER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4" name="TextBox 19">
            <a:extLst xmlns:a="http://schemas.openxmlformats.org/drawingml/2006/main">
              <a:ext uri="{FF2B5EF4-FFF2-40B4-BE49-F238E27FC236}">
                <a16:creationId xmlns:a16="http://schemas.microsoft.com/office/drawing/2014/main" id="{043F389F-B939-455E-99FE-739CF684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600" y="4389120"/>
            <a:ext cx="315432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One repeatable way to grade a result.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5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A065D492-255A-496D-9BDA-AA8A6B89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720" y="4005000"/>
            <a:ext cx="3593160" cy="1042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6" name="TextBox 21">
            <a:extLst xmlns:a="http://schemas.openxmlformats.org/drawingml/2006/main">
              <a:ext uri="{FF2B5EF4-FFF2-40B4-BE49-F238E27FC236}">
                <a16:creationId xmlns:a16="http://schemas.microsoft.com/office/drawing/2014/main" id="{49DA9434-6757-47BA-BC1E-4EE3EA13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320" y="4123800"/>
            <a:ext cx="315432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EVALUATION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7" name="TextBox 22">
            <a:extLst xmlns:a="http://schemas.openxmlformats.org/drawingml/2006/main">
              <a:ext uri="{FF2B5EF4-FFF2-40B4-BE49-F238E27FC236}">
                <a16:creationId xmlns:a16="http://schemas.microsoft.com/office/drawing/2014/main" id="{2A5D6A66-162F-4BEE-A922-16DC1A96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320" y="4389120"/>
            <a:ext cx="315432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The test setup: dataset, scorers, and settings.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8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C47947A-E81C-4C6A-A7C1-1889946A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75360"/>
            <a:ext cx="3593160" cy="1042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9" name="TextBox 24">
            <a:extLst xmlns:a="http://schemas.openxmlformats.org/drawingml/2006/main">
              <a:ext uri="{FF2B5EF4-FFF2-40B4-BE49-F238E27FC236}">
                <a16:creationId xmlns:a16="http://schemas.microsoft.com/office/drawing/2014/main" id="{040AB0BF-436C-4578-ABF0-51FCF6F6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94520"/>
            <a:ext cx="315432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EVALUATION RUN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0" name="TextBox 25">
            <a:extLst xmlns:a="http://schemas.openxmlformats.org/drawingml/2006/main">
              <a:ext uri="{FF2B5EF4-FFF2-40B4-BE49-F238E27FC236}">
                <a16:creationId xmlns:a16="http://schemas.microsoft.com/office/drawing/2014/main" id="{390A9336-A6B7-4740-9FBF-5A43D157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59480"/>
            <a:ext cx="315432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One time that test setup is run against a version.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1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E623B15C-AE06-42C1-A413-99E576F9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000" y="5175360"/>
            <a:ext cx="3593160" cy="1042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2" name="TextBox 27">
            <a:extLst xmlns:a="http://schemas.openxmlformats.org/drawingml/2006/main">
              <a:ext uri="{FF2B5EF4-FFF2-40B4-BE49-F238E27FC236}">
                <a16:creationId xmlns:a16="http://schemas.microsoft.com/office/drawing/2014/main" id="{4AD80053-6FC5-4B8E-9668-91A1F4D2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600" y="5294520"/>
            <a:ext cx="315432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LLM JUDGE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3" name="TextBox 28">
            <a:extLst xmlns:a="http://schemas.openxmlformats.org/drawingml/2006/main">
              <a:ext uri="{FF2B5EF4-FFF2-40B4-BE49-F238E27FC236}">
                <a16:creationId xmlns:a16="http://schemas.microsoft.com/office/drawing/2014/main" id="{59619D84-383E-4AD1-BD8F-44DB842D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600" y="5559480"/>
            <a:ext cx="315432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A model that grades evidence using written rules.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4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2CED436F-1F26-477D-A04D-E2B581E2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720" y="5175360"/>
            <a:ext cx="3593160" cy="1042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5" name="TextBox 30">
            <a:extLst xmlns:a="http://schemas.openxmlformats.org/drawingml/2006/main">
              <a:ext uri="{FF2B5EF4-FFF2-40B4-BE49-F238E27FC236}">
                <a16:creationId xmlns:a16="http://schemas.microsoft.com/office/drawing/2014/main" id="{2B816A48-AB34-4C28-920E-D340D04C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320" y="5294520"/>
            <a:ext cx="315432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RUBRIC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6" name="TextBox 31">
            <a:extLst xmlns:a="http://schemas.openxmlformats.org/drawingml/2006/main">
              <a:ext uri="{FF2B5EF4-FFF2-40B4-BE49-F238E27FC236}">
                <a16:creationId xmlns:a16="http://schemas.microsoft.com/office/drawing/2014/main" id="{9B01A253-FA86-40EA-8F39-1A98D061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320" y="5559480"/>
            <a:ext cx="315432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The written rules given to the judge.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7" name="TextBox 32">
            <a:extLst xmlns:a="http://schemas.openxmlformats.org/drawingml/2006/main">
              <a:ext uri="{FF2B5EF4-FFF2-40B4-BE49-F238E27FC236}">
                <a16:creationId xmlns:a16="http://schemas.microsoft.com/office/drawing/2014/main" id="{348F9ED0-21AE-4DFD-B17C-4EFB6592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WE WILL REINTRODUCE EACH TERM WHEN WE USE IT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8" name="TextBox 33">
            <a:extLst xmlns:a="http://schemas.openxmlformats.org/drawingml/2006/main">
              <a:ext uri="{FF2B5EF4-FFF2-40B4-BE49-F238E27FC236}">
                <a16:creationId xmlns:a16="http://schemas.microsoft.com/office/drawing/2014/main" id="{8DBB3070-BBCE-4559-8788-20760CE8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08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43319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9" name="TextBox 1">
            <a:extLst xmlns:a="http://schemas.openxmlformats.org/drawingml/2006/main">
              <a:ext uri="{FF2B5EF4-FFF2-40B4-BE49-F238E27FC236}">
                <a16:creationId xmlns:a16="http://schemas.microsoft.com/office/drawing/2014/main" id="{00D7EADE-6232-4016-864A-E8750EAE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CHAPTER 1 • TRACE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0" name="TextBox 2">
            <a:extLst xmlns:a="http://schemas.openxmlformats.org/drawingml/2006/main">
              <a:ext uri="{FF2B5EF4-FFF2-40B4-BE49-F238E27FC236}">
                <a16:creationId xmlns:a16="http://schemas.microsoft.com/office/drawing/2014/main" id="{7B5AB7F3-EAB7-49DD-8266-1ADEBC8C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1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A trace shows one run—and every recorded step</a:t>
            </a:r>
            <a:endParaRPr sz="3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1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8546623B-CA5C-449E-9247-49C7B446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2" name="TextBox 4">
            <a:extLst xmlns:a="http://schemas.openxmlformats.org/drawingml/2006/main">
              <a:ext uri="{FF2B5EF4-FFF2-40B4-BE49-F238E27FC236}">
                <a16:creationId xmlns:a16="http://schemas.microsoft.com/office/drawing/2014/main" id="{D4CB7F06-95EE-4CE4-95AE-51CF49C8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RUN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B373E03-34D4-478E-9C37-D4F58848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4" name="TextBox 6">
            <a:extLst xmlns:a="http://schemas.openxmlformats.org/drawingml/2006/main">
              <a:ext uri="{FF2B5EF4-FFF2-40B4-BE49-F238E27FC236}">
                <a16:creationId xmlns:a16="http://schemas.microsoft.com/office/drawing/2014/main" id="{3ECC2BA5-B9EC-455C-82F0-1BC681D1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5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93CF123-51AE-4253-8696-61237613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6" name="TextBox 8">
            <a:extLst xmlns:a="http://schemas.openxmlformats.org/drawingml/2006/main">
              <a:ext uri="{FF2B5EF4-FFF2-40B4-BE49-F238E27FC236}">
                <a16:creationId xmlns:a16="http://schemas.microsoft.com/office/drawing/2014/main" id="{DC0F1395-F4E0-4334-A805-3440F4BF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CURATE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7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CB8C6B4-4DC3-43AE-9B78-E746D09D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8" name="TextBox 10">
            <a:extLst xmlns:a="http://schemas.openxmlformats.org/drawingml/2006/main">
              <a:ext uri="{FF2B5EF4-FFF2-40B4-BE49-F238E27FC236}">
                <a16:creationId xmlns:a16="http://schemas.microsoft.com/office/drawing/2014/main" id="{02A318AC-E057-4A57-80DE-1C206F72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EVALUATE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9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B6DEA38-ED2C-44FC-AF10-FA9CB6B9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0" name="TextBox 12">
            <a:extLst xmlns:a="http://schemas.openxmlformats.org/drawingml/2006/main">
              <a:ext uri="{FF2B5EF4-FFF2-40B4-BE49-F238E27FC236}">
                <a16:creationId xmlns:a16="http://schemas.microsoft.com/office/drawing/2014/main" id="{47690171-3356-4AE7-AF0B-BFA8B58A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IMPROVE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1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D7F28C2-C978-4D2E-ADB9-4845AA86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2" name="TextBox 14">
            <a:extLst xmlns:a="http://schemas.openxmlformats.org/drawingml/2006/main">
              <a:ext uri="{FF2B5EF4-FFF2-40B4-BE49-F238E27FC236}">
                <a16:creationId xmlns:a16="http://schemas.microsoft.com/office/drawing/2014/main" id="{B766CF2B-D878-4898-993D-9BAB41A0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DECIDE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3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3468066-92A7-480F-B9C1-F65F995E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2121120" cy="14169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4" name="TextBox 16">
            <a:extLst xmlns:a="http://schemas.openxmlformats.org/drawingml/2006/main">
              <a:ext uri="{FF2B5EF4-FFF2-40B4-BE49-F238E27FC236}">
                <a16:creationId xmlns:a16="http://schemas.microsoft.com/office/drawing/2014/main" id="{C892063A-B8EE-45B0-A2CF-996C09F5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57400"/>
            <a:ext cx="17827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99">
                <a:solidFill>
                  <a:srgbClr val="2375FF"/>
                </a:solidFill>
                <a:latin typeface="Arial"/>
                <a:ea typeface="Arial"/>
                <a:cs typeface="Arial"/>
              </a:rPr>
              <a:t>OP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5" name="TextBox 17">
            <a:extLst xmlns:a="http://schemas.openxmlformats.org/drawingml/2006/main">
              <a:ext uri="{FF2B5EF4-FFF2-40B4-BE49-F238E27FC236}">
                <a16:creationId xmlns:a16="http://schemas.microsoft.com/office/drawing/2014/main" id="{449015DE-117D-4CF8-9573-08D4C32E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87240"/>
            <a:ext cx="17827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A function Weave tracks and versions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6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2CBF83E-8037-48F0-BDDA-8CEFF2C3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74520"/>
            <a:ext cx="2121120" cy="14169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7" name="TextBox 19">
            <a:extLst xmlns:a="http://schemas.openxmlformats.org/drawingml/2006/main">
              <a:ext uri="{FF2B5EF4-FFF2-40B4-BE49-F238E27FC236}">
                <a16:creationId xmlns:a16="http://schemas.microsoft.com/office/drawing/2014/main" id="{465E8A8F-0F9C-4221-AC08-28C68D09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57400"/>
            <a:ext cx="17827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99">
                <a:solidFill>
                  <a:srgbClr val="2375FF"/>
                </a:solidFill>
                <a:latin typeface="Arial"/>
                <a:ea typeface="Arial"/>
                <a:cs typeface="Arial"/>
              </a:rPr>
              <a:t>CALL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8" name="TextBox 20">
            <a:extLst xmlns:a="http://schemas.openxmlformats.org/drawingml/2006/main">
              <a:ext uri="{FF2B5EF4-FFF2-40B4-BE49-F238E27FC236}">
                <a16:creationId xmlns:a16="http://schemas.microsoft.com/office/drawing/2014/main" id="{C1F0C6B2-C685-41E2-A996-4968EAAB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87240"/>
            <a:ext cx="17827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One time that function runs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9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7ECCA62B-4724-41B6-B5BA-E665B0AF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74520"/>
            <a:ext cx="2121120" cy="14169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0" name="TextBox 22">
            <a:extLst xmlns:a="http://schemas.openxmlformats.org/drawingml/2006/main">
              <a:ext uri="{FF2B5EF4-FFF2-40B4-BE49-F238E27FC236}">
                <a16:creationId xmlns:a16="http://schemas.microsoft.com/office/drawing/2014/main" id="{B434E248-595C-4F29-9E92-E995EEC7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057400"/>
            <a:ext cx="17827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99">
                <a:solidFill>
                  <a:srgbClr val="2375FF"/>
                </a:solidFill>
                <a:latin typeface="Arial"/>
                <a:ea typeface="Arial"/>
                <a:cs typeface="Arial"/>
              </a:rPr>
              <a:t>TRACE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1" name="TextBox 23">
            <a:extLst xmlns:a="http://schemas.openxmlformats.org/drawingml/2006/main">
              <a:ext uri="{FF2B5EF4-FFF2-40B4-BE49-F238E27FC236}">
                <a16:creationId xmlns:a16="http://schemas.microsoft.com/office/drawing/2014/main" id="{0525DC4D-0F55-4BCA-A703-BEA9CCD1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87240"/>
            <a:ext cx="17827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The full record of one run and its Calls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2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DDE59557-C0B3-45A2-B3B8-6A27936A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874520"/>
            <a:ext cx="2121120" cy="14169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3" name="TextBox 25">
            <a:extLst xmlns:a="http://schemas.openxmlformats.org/drawingml/2006/main">
              <a:ext uri="{FF2B5EF4-FFF2-40B4-BE49-F238E27FC236}">
                <a16:creationId xmlns:a16="http://schemas.microsoft.com/office/drawing/2014/main" id="{5220C413-967D-4354-B0F7-F866BAC4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057400"/>
            <a:ext cx="17827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99">
                <a:solidFill>
                  <a:srgbClr val="2375FF"/>
                </a:solidFill>
                <a:latin typeface="Arial"/>
                <a:ea typeface="Arial"/>
                <a:cs typeface="Arial"/>
              </a:rPr>
              <a:t>INPUTS + OUTPUTS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4" name="TextBox 26">
            <a:extLst xmlns:a="http://schemas.openxmlformats.org/drawingml/2006/main">
              <a:ext uri="{FF2B5EF4-FFF2-40B4-BE49-F238E27FC236}">
                <a16:creationId xmlns:a16="http://schemas.microsoft.com/office/drawing/2014/main" id="{0A5EC80F-7D28-41FF-9AFD-D775A4AB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487240"/>
            <a:ext cx="17827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What went in and what came back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5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3851C24B-4BA2-4579-BCAA-4D7841C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874520"/>
            <a:ext cx="2121120" cy="14169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6" name="TextBox 28">
            <a:extLst xmlns:a="http://schemas.openxmlformats.org/drawingml/2006/main">
              <a:ext uri="{FF2B5EF4-FFF2-40B4-BE49-F238E27FC236}">
                <a16:creationId xmlns:a16="http://schemas.microsoft.com/office/drawing/2014/main" id="{0EA2606E-E23A-49BC-9892-FCEACA7E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057400"/>
            <a:ext cx="17827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99">
                <a:solidFill>
                  <a:srgbClr val="2375FF"/>
                </a:solidFill>
                <a:latin typeface="Arial"/>
                <a:ea typeface="Arial"/>
                <a:cs typeface="Arial"/>
              </a:rPr>
              <a:t>FEEDBACK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7" name="TextBox 29">
            <a:extLst xmlns:a="http://schemas.openxmlformats.org/drawingml/2006/main">
              <a:ext uri="{FF2B5EF4-FFF2-40B4-BE49-F238E27FC236}">
                <a16:creationId xmlns:a16="http://schemas.microsoft.com/office/drawing/2014/main" id="{15D8B7D7-303D-48AE-9999-3410DD60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487240"/>
            <a:ext cx="17827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Human notes and other feedback saved with a Call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8" name="Picture 30">
            <a:extLst xmlns:a="http://schemas.openxmlformats.org/drawingml/2006/main">
              <a:ext uri="{FF2B5EF4-FFF2-40B4-BE49-F238E27FC236}">
                <a16:creationId xmlns:a16="http://schemas.microsoft.com/office/drawing/2014/main" id="{7BD61245-409E-429C-8527-2D538886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80" y="3566160"/>
            <a:ext cx="8412120" cy="2468520"/>
          </a:xfrm>
          <a:prstGeom xmlns:a="http://schemas.openxmlformats.org/drawingml/2006/main" prst="roundRect">
            <a:avLst>
              <a:gd name="adj" fmla="val 5000"/>
            </a:avLst>
          </a:prstGeom>
          <a:blipFill xmlns:a="http://schemas.openxmlformats.org/drawingml/2006/main" rotWithShape="0">
            <a:blip xmlns:r="http://schemas.openxmlformats.org/officeDocument/2006/relationships" r:embed="Rd50bdd78fce046d2"/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9" name="TextBox 31">
            <a:extLst xmlns:a="http://schemas.openxmlformats.org/drawingml/2006/main">
              <a:ext uri="{FF2B5EF4-FFF2-40B4-BE49-F238E27FC236}">
                <a16:creationId xmlns:a16="http://schemas.microsoft.com/office/drawing/2014/main" id="{A8022FB3-2530-4251-955D-35D427A4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ANNOTATION — STRUCTURED HUMAN FEEDBACK ATTACHED TO A CALL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0" name="TextBox 32">
            <a:extLst xmlns:a="http://schemas.openxmlformats.org/drawingml/2006/main">
              <a:ext uri="{FF2B5EF4-FFF2-40B4-BE49-F238E27FC236}">
                <a16:creationId xmlns:a16="http://schemas.microsoft.com/office/drawing/2014/main" id="{CF06DA92-A11C-4BF2-B804-72A95295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09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12646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1" name="TextBox 1">
            <a:extLst xmlns:a="http://schemas.openxmlformats.org/drawingml/2006/main">
              <a:ext uri="{FF2B5EF4-FFF2-40B4-BE49-F238E27FC236}">
                <a16:creationId xmlns:a16="http://schemas.microsoft.com/office/drawing/2014/main" id="{F34E4C54-C896-4D20-B5E5-C41275D6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THE V1 TRACE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2" name="TextBox 2">
            <a:extLst xmlns:a="http://schemas.openxmlformats.org/drawingml/2006/main">
              <a:ext uri="{FF2B5EF4-FFF2-40B4-BE49-F238E27FC236}">
                <a16:creationId xmlns:a16="http://schemas.microsoft.com/office/drawing/2014/main" id="{C55D68DB-3BB0-4C7C-A7A9-87E7B6B6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1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The first checks passed—but they missed the real risk</a:t>
            </a:r>
            <a:endParaRPr sz="3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3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0485A220-92DC-46CE-BE87-E6B64A66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4" name="TextBox 4">
            <a:extLst xmlns:a="http://schemas.openxmlformats.org/drawingml/2006/main">
              <a:ext uri="{FF2B5EF4-FFF2-40B4-BE49-F238E27FC236}">
                <a16:creationId xmlns:a16="http://schemas.microsoft.com/office/drawing/2014/main" id="{0BEE5F75-05DA-42E1-9459-B87A4F57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RUN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3497031-35FD-42DE-87E0-BC1D7E28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6" name="TextBox 6">
            <a:extLst xmlns:a="http://schemas.openxmlformats.org/drawingml/2006/main">
              <a:ext uri="{FF2B5EF4-FFF2-40B4-BE49-F238E27FC236}">
                <a16:creationId xmlns:a16="http://schemas.microsoft.com/office/drawing/2014/main" id="{BFDFC046-A8B4-40A6-8397-9C021004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7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B01BD3C-B438-4B2B-8E07-558E9C38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8" name="TextBox 8">
            <a:extLst xmlns:a="http://schemas.openxmlformats.org/drawingml/2006/main">
              <a:ext uri="{FF2B5EF4-FFF2-40B4-BE49-F238E27FC236}">
                <a16:creationId xmlns:a16="http://schemas.microsoft.com/office/drawing/2014/main" id="{0632CFD9-F7FD-47C1-AEBA-AC02DEF6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CURATE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9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52AB9AA-CE41-4653-A2CC-7327499A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4958F25-7FAF-488B-993A-91625F9F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EVALUATE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24E4FCE-41DC-4113-A7AB-65CA42A4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2" name="TextBox 12">
            <a:extLst xmlns:a="http://schemas.openxmlformats.org/drawingml/2006/main">
              <a:ext uri="{FF2B5EF4-FFF2-40B4-BE49-F238E27FC236}">
                <a16:creationId xmlns:a16="http://schemas.microsoft.com/office/drawing/2014/main" id="{686FD329-A1C4-4B14-919A-31335F56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IMPROVE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3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3A103E7-AC39-42C8-B49E-CA8C00A9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92114C7-90E3-40F6-9EB2-9A3E1121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DECIDE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5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8558A3B-9990-4A6C-BEE3-089665B0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30040"/>
            <a:ext cx="1691280" cy="4021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6" name="TextBox 16">
            <a:extLst xmlns:a="http://schemas.openxmlformats.org/drawingml/2006/main">
              <a:ext uri="{FF2B5EF4-FFF2-40B4-BE49-F238E27FC236}">
                <a16:creationId xmlns:a16="http://schemas.microsoft.com/office/drawing/2014/main" id="{D3133007-8FB6-4D9C-AD57-CCAA5875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30040"/>
            <a:ext cx="169128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2375FF"/>
                </a:solidFill>
                <a:latin typeface="Arial"/>
                <a:ea typeface="Arial"/>
                <a:cs typeface="Arial"/>
              </a:rPr>
              <a:t>REQUEST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7" name="TextBox 17">
            <a:extLst xmlns:a="http://schemas.openxmlformats.org/drawingml/2006/main">
              <a:ext uri="{FF2B5EF4-FFF2-40B4-BE49-F238E27FC236}">
                <a16:creationId xmlns:a16="http://schemas.microsoft.com/office/drawing/2014/main" id="{8D5807F8-6D7B-4903-BA5F-5C3870AE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74520"/>
            <a:ext cx="50288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Honeycomb asks to close HB-101 + PO-209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28" name="Connector 18"/>
          <p:cNvCxnSpPr/>
          <p:nvPr/>
        </p:nvCxnSpPr>
        <p:spPr>
          <a:xfrm xmlns:a="http://schemas.openxmlformats.org/drawingml/2006/main">
            <a:off x="1389600" y="2450520"/>
            <a:ext cx="360" cy="29304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D9E2EF"/>
            </a:solidFill>
            <a:round/>
          </a:ln>
        </p:spPr>
      </p:cxnSp>
      <p:sp>
        <p:nvSpPr>
          <p:cNvPr id="369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3EDB0B1-B865-4294-B332-282856B9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9360"/>
            <a:ext cx="1691280" cy="4021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0" name="TextBox 20">
            <a:extLst xmlns:a="http://schemas.openxmlformats.org/drawingml/2006/main">
              <a:ext uri="{FF2B5EF4-FFF2-40B4-BE49-F238E27FC236}">
                <a16:creationId xmlns:a16="http://schemas.microsoft.com/office/drawing/2014/main" id="{60E6848C-338A-41EB-BDB9-82A51700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9360"/>
            <a:ext cx="169128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VERSION 1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1" name="TextBox 21">
            <a:extLst xmlns:a="http://schemas.openxmlformats.org/drawingml/2006/main">
              <a:ext uri="{FF2B5EF4-FFF2-40B4-BE49-F238E27FC236}">
                <a16:creationId xmlns:a16="http://schemas.microsoft.com/office/drawing/2014/main" id="{A51F0C59-D32B-4D80-B091-38EAA453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34200"/>
            <a:ext cx="50288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0" u="none">
                <a:solidFill>
                  <a:srgbClr val="0B0F16"/>
                </a:solidFill>
                <a:latin typeface="Courier New"/>
                <a:ea typeface="Courier New"/>
                <a:cs typeface="Courier New"/>
              </a:rPr>
              <a:t>Looks up tickets by number only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32" name="Connector 22"/>
          <p:cNvCxnSpPr/>
          <p:nvPr/>
        </p:nvCxnSpPr>
        <p:spPr>
          <a:xfrm xmlns:a="http://schemas.openxmlformats.org/drawingml/2006/main">
            <a:off x="1389600" y="3309840"/>
            <a:ext cx="360" cy="29304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D9E2EF"/>
            </a:solidFill>
            <a:round/>
          </a:ln>
        </p:spPr>
      </p:cxnSp>
      <p:sp>
        <p:nvSpPr>
          <p:cNvPr id="373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03C6CFC6-A188-43B8-9C8D-FCFEB51A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1691280" cy="4021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4" name="TextBox 24">
            <a:extLst xmlns:a="http://schemas.openxmlformats.org/drawingml/2006/main">
              <a:ext uri="{FF2B5EF4-FFF2-40B4-BE49-F238E27FC236}">
                <a16:creationId xmlns:a16="http://schemas.microsoft.com/office/drawing/2014/main" id="{285B4E58-4554-4EDC-9A6A-5EEB0C8B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169128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0E8345"/>
                </a:solidFill>
                <a:latin typeface="Arial"/>
                <a:ea typeface="Arial"/>
                <a:cs typeface="Arial"/>
              </a:rPr>
              <a:t>CHECK 1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0CEB667-2474-48F0-878F-DB8D70B0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93520"/>
            <a:ext cx="50288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One expected behavior passes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36" name="Connector 26"/>
          <p:cNvCxnSpPr/>
          <p:nvPr/>
        </p:nvCxnSpPr>
        <p:spPr>
          <a:xfrm xmlns:a="http://schemas.openxmlformats.org/drawingml/2006/main">
            <a:off x="1389600" y="4169520"/>
            <a:ext cx="360" cy="29304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D9E2EF"/>
            </a:solidFill>
            <a:round/>
          </a:ln>
        </p:spPr>
      </p:cxnSp>
      <p:sp>
        <p:nvSpPr>
          <p:cNvPr id="377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8C797002-AD75-4E48-B31A-D87D89F5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08720"/>
            <a:ext cx="1691280" cy="4021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8" name="TextBox 28">
            <a:extLst xmlns:a="http://schemas.openxmlformats.org/drawingml/2006/main">
              <a:ext uri="{FF2B5EF4-FFF2-40B4-BE49-F238E27FC236}">
                <a16:creationId xmlns:a16="http://schemas.microsoft.com/office/drawing/2014/main" id="{C48E7794-EBE4-447A-AA05-BF3522EF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08720"/>
            <a:ext cx="169128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0E8345"/>
                </a:solidFill>
                <a:latin typeface="Arial"/>
                <a:ea typeface="Arial"/>
                <a:cs typeface="Arial"/>
              </a:rPr>
              <a:t>CHECKS 2 + 3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9" name="TextBox 29">
            <a:extLst xmlns:a="http://schemas.openxmlformats.org/drawingml/2006/main">
              <a:ext uri="{FF2B5EF4-FFF2-40B4-BE49-F238E27FC236}">
                <a16:creationId xmlns:a16="http://schemas.microsoft.com/office/drawing/2014/main" id="{7D257889-7687-4BF5-9AE4-2C4FEECA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53200"/>
            <a:ext cx="50288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Two more passes—same missing customer check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40" name="Connector 30"/>
          <p:cNvCxnSpPr/>
          <p:nvPr/>
        </p:nvCxnSpPr>
        <p:spPr>
          <a:xfrm xmlns:a="http://schemas.openxmlformats.org/drawingml/2006/main">
            <a:off x="1389600" y="5028840"/>
            <a:ext cx="360" cy="29304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D9E2EF"/>
            </a:solidFill>
            <a:round/>
          </a:ln>
        </p:spPr>
      </p:cxnSp>
      <p:sp>
        <p:nvSpPr>
          <p:cNvPr id="381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C88492E8-CA82-441F-BE18-D36FDA32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68040"/>
            <a:ext cx="1691280" cy="4021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9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2" name="TextBox 32">
            <a:extLst xmlns:a="http://schemas.openxmlformats.org/drawingml/2006/main">
              <a:ext uri="{FF2B5EF4-FFF2-40B4-BE49-F238E27FC236}">
                <a16:creationId xmlns:a16="http://schemas.microsoft.com/office/drawing/2014/main" id="{0034E7BF-7FC8-416A-8B8D-DB06246A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68040"/>
            <a:ext cx="169128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C82E4D"/>
                </a:solidFill>
                <a:latin typeface="Arial"/>
                <a:ea typeface="Arial"/>
                <a:cs typeface="Arial"/>
              </a:rPr>
              <a:t>RISK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3" name="TextBox 33">
            <a:extLst xmlns:a="http://schemas.openxmlformats.org/drawingml/2006/main">
              <a:ext uri="{FF2B5EF4-FFF2-40B4-BE49-F238E27FC236}">
                <a16:creationId xmlns:a16="http://schemas.microsoft.com/office/drawing/2014/main" id="{4288D27F-3E45-49C2-83CA-B7D83289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12520"/>
            <a:ext cx="50288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Honeycomb can change Pollen’s ticket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4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8D7F1CC5-383E-4BB6-9EB4-1D557A7C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874520"/>
            <a:ext cx="3776040" cy="41601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5" name="TextBox 35">
            <a:extLst xmlns:a="http://schemas.openxmlformats.org/drawingml/2006/main">
              <a:ext uri="{FF2B5EF4-FFF2-40B4-BE49-F238E27FC236}">
                <a16:creationId xmlns:a16="http://schemas.microsoft.com/office/drawing/2014/main" id="{8AB79884-EBF1-4266-BA00-4515CF9A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194560"/>
            <a:ext cx="32000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5400" b="1" u="none">
                <a:solidFill>
                  <a:srgbClr val="0E8345"/>
                </a:solidFill>
                <a:latin typeface="Arial"/>
                <a:ea typeface="Arial"/>
                <a:cs typeface="Arial"/>
              </a:rPr>
              <a:t>3</a:t>
            </a:r>
            <a:endParaRPr sz="5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6" name="TextBox 36">
            <a:extLst xmlns:a="http://schemas.openxmlformats.org/drawingml/2006/main">
              <a:ext uri="{FF2B5EF4-FFF2-40B4-BE49-F238E27FC236}">
                <a16:creationId xmlns:a16="http://schemas.microsoft.com/office/drawing/2014/main" id="{0C43A9FC-8217-42E3-896C-FACC572C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154680"/>
            <a:ext cx="3200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5D6878"/>
                </a:solidFill>
                <a:latin typeface="Arial"/>
                <a:ea typeface="Arial"/>
                <a:cs typeface="Arial"/>
              </a:rPr>
              <a:t>GREEN CHECKS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7" name="TextBox 37">
            <a:extLst xmlns:a="http://schemas.openxmlformats.org/drawingml/2006/main">
              <a:ext uri="{FF2B5EF4-FFF2-40B4-BE49-F238E27FC236}">
                <a16:creationId xmlns:a16="http://schemas.microsoft.com/office/drawing/2014/main" id="{389905F3-E10D-451F-8054-30A75CA4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931920"/>
            <a:ext cx="32000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5400" b="1" u="none">
                <a:solidFill>
                  <a:srgbClr val="C82E4D"/>
                </a:solidFill>
                <a:latin typeface="Arial"/>
                <a:ea typeface="Arial"/>
                <a:cs typeface="Arial"/>
              </a:rPr>
              <a:t>1</a:t>
            </a:r>
            <a:endParaRPr sz="5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8" name="TextBox 38">
            <a:extLst xmlns:a="http://schemas.openxmlformats.org/drawingml/2006/main">
              <a:ext uri="{FF2B5EF4-FFF2-40B4-BE49-F238E27FC236}">
                <a16:creationId xmlns:a16="http://schemas.microsoft.com/office/drawing/2014/main" id="{5035B641-F7F7-4CA3-AD49-0503BB52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892040"/>
            <a:ext cx="3200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5D6878"/>
                </a:solidFill>
                <a:latin typeface="Arial"/>
                <a:ea typeface="Arial"/>
                <a:cs typeface="Arial"/>
              </a:rPr>
              <a:t>CUSTOMER CHECK MISSING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D6D29C6-4C18-4336-906A-0779E27B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WEAVE STOP 1 → OPEN THE TRACE → FIND THE TICKET LOOKUP → ADD YOUR ANNOTATION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0" name="TextBox 40">
            <a:extLst xmlns:a="http://schemas.openxmlformats.org/drawingml/2006/main">
              <a:ext uri="{FF2B5EF4-FFF2-40B4-BE49-F238E27FC236}">
                <a16:creationId xmlns:a16="http://schemas.microsoft.com/office/drawing/2014/main" id="{32E15F1B-27AE-467D-8924-B2622866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10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61703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1" name="TextBox 1">
            <a:extLst xmlns:a="http://schemas.openxmlformats.org/drawingml/2006/main">
              <a:ext uri="{FF2B5EF4-FFF2-40B4-BE49-F238E27FC236}">
                <a16:creationId xmlns:a16="http://schemas.microsoft.com/office/drawing/2014/main" id="{E08EFA73-5190-4AEE-8453-56947719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CHAPTER 2 • DATASET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2" name="TextBox 2">
            <a:extLst xmlns:a="http://schemas.openxmlformats.org/drawingml/2006/main">
              <a:ext uri="{FF2B5EF4-FFF2-40B4-BE49-F238E27FC236}">
                <a16:creationId xmlns:a16="http://schemas.microsoft.com/office/drawing/2014/main" id="{5AB38845-F931-4DD4-A95D-197BBFBB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1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Turn the trace finding into a case we can test again</a:t>
            </a:r>
            <a:endParaRPr sz="3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3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C66E40-6336-4172-906C-416278BE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4" name="TextBox 4">
            <a:extLst xmlns:a="http://schemas.openxmlformats.org/drawingml/2006/main">
              <a:ext uri="{FF2B5EF4-FFF2-40B4-BE49-F238E27FC236}">
                <a16:creationId xmlns:a16="http://schemas.microsoft.com/office/drawing/2014/main" id="{9FEDCDD0-CE6B-45AE-865F-C46A034B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RUN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C91ADE6-FCA4-4FA7-B96D-19EBAB6F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6" name="TextBox 6">
            <a:extLst xmlns:a="http://schemas.openxmlformats.org/drawingml/2006/main">
              <a:ext uri="{FF2B5EF4-FFF2-40B4-BE49-F238E27FC236}">
                <a16:creationId xmlns:a16="http://schemas.microsoft.com/office/drawing/2014/main" id="{2F92253C-4030-47F6-BC5A-0DE71E59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OBSERVE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7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CCF2AC3-3FFD-48D2-8CEB-C8E71477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8" name="TextBox 8">
            <a:extLst xmlns:a="http://schemas.openxmlformats.org/drawingml/2006/main">
              <a:ext uri="{FF2B5EF4-FFF2-40B4-BE49-F238E27FC236}">
                <a16:creationId xmlns:a16="http://schemas.microsoft.com/office/drawing/2014/main" id="{E3E7389F-6D76-4402-A3D9-98BAA36E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CURATE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9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B10CF02-7752-4E5B-8BC6-F945EC86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582BB09-32EA-4E36-8FBB-30863C0C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EVALUATE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B7A8863-B52F-400C-A20A-2B9F331F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A2CCD7D-73D8-4A96-B711-0BD80B31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IMPROVE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3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CF6A0CB-FB0F-471B-B417-68C720C6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E7D4EE3-CAAB-4559-99EA-13E93080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DECIDE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5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4C84305-E91F-40EE-A764-E22CEECB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03120"/>
            <a:ext cx="4891680" cy="338292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6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60EF61CA-31DD-454B-9EDA-C09097D8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554120" cy="36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EC7BD3E-A0D6-48AE-82D9-AF7F34EE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WHAT THE TRACE SHOWED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0A82383-3794-4E8B-9DAF-52FB08C5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017520"/>
            <a:ext cx="39315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The request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9" name="Oval 19">
            <a:extLst xmlns:a="http://schemas.openxmlformats.org/drawingml/2006/main">
              <a:ext uri="{FF2B5EF4-FFF2-40B4-BE49-F238E27FC236}">
                <a16:creationId xmlns:a16="http://schemas.microsoft.com/office/drawing/2014/main" id="{C2C3F73C-3BDB-4E29-BA74-5BEC5CC7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140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878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32760" rIns="90000" bIns="3276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0" name="TextBox 20">
            <a:extLst xmlns:a="http://schemas.openxmlformats.org/drawingml/2006/main">
              <a:ext uri="{FF2B5EF4-FFF2-40B4-BE49-F238E27FC236}">
                <a16:creationId xmlns:a16="http://schemas.microsoft.com/office/drawing/2014/main" id="{F548D8C9-94A9-44FC-9BFB-2D760C9B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584520"/>
            <a:ext cx="39315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The Version 1 result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1" name="Oval 21">
            <a:extLst xmlns:a="http://schemas.openxmlformats.org/drawingml/2006/main">
              <a:ext uri="{FF2B5EF4-FFF2-40B4-BE49-F238E27FC236}">
                <a16:creationId xmlns:a16="http://schemas.microsoft.com/office/drawing/2014/main" id="{AE97EC6A-0F0D-41CD-B12B-E1A00383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804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878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32760" rIns="90000" bIns="3276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3EA3163-52C6-46A3-8EBF-06301F26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151520"/>
            <a:ext cx="39315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What went wrong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3" name="Oval 23">
            <a:extLst xmlns:a="http://schemas.openxmlformats.org/drawingml/2006/main">
              <a:ext uri="{FF2B5EF4-FFF2-40B4-BE49-F238E27FC236}">
                <a16:creationId xmlns:a16="http://schemas.microsoft.com/office/drawing/2014/main" id="{B8DB43C1-411C-4220-8184-EE245953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504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878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32760" rIns="90000" bIns="3276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1157654-F9C7-4FA1-9780-5C1DC3D0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718160"/>
            <a:ext cx="39315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Came from a real incident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5" name="Oval 25">
            <a:extLst xmlns:a="http://schemas.openxmlformats.org/drawingml/2006/main">
              <a:ext uri="{FF2B5EF4-FFF2-40B4-BE49-F238E27FC236}">
                <a16:creationId xmlns:a16="http://schemas.microsoft.com/office/drawing/2014/main" id="{8D80F615-42B9-4C71-B503-82639520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878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32760" rIns="90000" bIns="3276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6" name="TextBox 26">
            <a:extLst xmlns:a="http://schemas.openxmlformats.org/drawingml/2006/main">
              <a:ext uri="{FF2B5EF4-FFF2-40B4-BE49-F238E27FC236}">
                <a16:creationId xmlns:a16="http://schemas.microsoft.com/office/drawing/2014/main" id="{BE34A2F1-1F7E-4D25-9051-9499B3F9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29000"/>
            <a:ext cx="82260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3400" b="1" u="none">
                <a:solidFill>
                  <a:srgbClr val="2375FF"/>
                </a:solidFill>
                <a:latin typeface="Arial"/>
                <a:ea typeface="Arial"/>
                <a:cs typeface="Arial"/>
              </a:rPr>
              <a:t>→</a:t>
            </a:r>
            <a:endParaRPr sz="3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7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E754CD75-3B21-4171-B9C3-B7E36B18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03120"/>
            <a:ext cx="5010480" cy="338292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8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6BEC3350-31AA-445C-8205-6EF6441D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423160"/>
            <a:ext cx="1965600" cy="36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9" name="TextBox 29">
            <a:extLst xmlns:a="http://schemas.openxmlformats.org/drawingml/2006/main">
              <a:ext uri="{FF2B5EF4-FFF2-40B4-BE49-F238E27FC236}">
                <a16:creationId xmlns:a16="http://schemas.microsoft.com/office/drawing/2014/main" id="{F8833CE4-7A0A-4248-9398-73661B16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423160"/>
            <a:ext cx="19656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CASE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Box 30">
            <a:extLst xmlns:a="http://schemas.openxmlformats.org/drawingml/2006/main">
              <a:ext uri="{FF2B5EF4-FFF2-40B4-BE49-F238E27FC236}">
                <a16:creationId xmlns:a16="http://schemas.microsoft.com/office/drawing/2014/main" id="{099EE50F-6010-4752-88AA-52101B9C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17520"/>
            <a:ext cx="40230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The request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Oval 31">
            <a:extLst xmlns:a="http://schemas.openxmlformats.org/drawingml/2006/main">
              <a:ext uri="{FF2B5EF4-FFF2-40B4-BE49-F238E27FC236}">
                <a16:creationId xmlns:a16="http://schemas.microsoft.com/office/drawing/2014/main" id="{082BC7F2-0F56-410D-A251-D86C1B00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19140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32760" rIns="90000" bIns="3276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2" name="TextBox 32">
            <a:extLst xmlns:a="http://schemas.openxmlformats.org/drawingml/2006/main">
              <a:ext uri="{FF2B5EF4-FFF2-40B4-BE49-F238E27FC236}">
                <a16:creationId xmlns:a16="http://schemas.microsoft.com/office/drawing/2014/main" id="{C8C308E1-FC31-41EC-B62D-72C69608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84520"/>
            <a:ext cx="40230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What should happen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Oval 33">
            <a:extLst xmlns:a="http://schemas.openxmlformats.org/drawingml/2006/main">
              <a:ext uri="{FF2B5EF4-FFF2-40B4-BE49-F238E27FC236}">
                <a16:creationId xmlns:a16="http://schemas.microsoft.com/office/drawing/2014/main" id="{36225717-55C9-43B6-BCC5-2774519D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75804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32760" rIns="90000" bIns="3276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546B60E-96A1-43E5-9F69-5C61D9D2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51520"/>
            <a:ext cx="40230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Where the case came from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Oval 35">
            <a:extLst xmlns:a="http://schemas.openxmlformats.org/drawingml/2006/main">
              <a:ext uri="{FF2B5EF4-FFF2-40B4-BE49-F238E27FC236}">
                <a16:creationId xmlns:a16="http://schemas.microsoft.com/office/drawing/2014/main" id="{A4DE0E4F-1BB1-47F3-B84B-6A8BF97A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32504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32760" rIns="90000" bIns="3276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6" name="TextBox 36">
            <a:extLst xmlns:a="http://schemas.openxmlformats.org/drawingml/2006/main">
              <a:ext uri="{FF2B5EF4-FFF2-40B4-BE49-F238E27FC236}">
                <a16:creationId xmlns:a16="http://schemas.microsoft.com/office/drawing/2014/main" id="{7CAB2092-53F2-4524-88BB-9396F80D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18160"/>
            <a:ext cx="40230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Saved version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Oval 37">
            <a:extLst xmlns:a="http://schemas.openxmlformats.org/drawingml/2006/main">
              <a:ext uri="{FF2B5EF4-FFF2-40B4-BE49-F238E27FC236}">
                <a16:creationId xmlns:a16="http://schemas.microsoft.com/office/drawing/2014/main" id="{A790485C-F41C-4A56-87BA-9A644B66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89204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32760" rIns="90000" bIns="3276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8" name="TextBox 38">
            <a:extLst xmlns:a="http://schemas.openxmlformats.org/drawingml/2006/main">
              <a:ext uri="{FF2B5EF4-FFF2-40B4-BE49-F238E27FC236}">
                <a16:creationId xmlns:a16="http://schemas.microsoft.com/office/drawing/2014/main" id="{71A911D8-90A2-4E12-84E1-53ECE190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DATASET — CASES WE SAVE SO WE CAN TEST THEM AGAIN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Box 39">
            <a:extLst xmlns:a="http://schemas.openxmlformats.org/drawingml/2006/main">
              <a:ext uri="{FF2B5EF4-FFF2-40B4-BE49-F238E27FC236}">
                <a16:creationId xmlns:a16="http://schemas.microsoft.com/office/drawing/2014/main" id="{DCF06D60-E490-4BB8-802B-95AEC414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11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26971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0" name="TextBox 1">
            <a:extLst xmlns:a="http://schemas.openxmlformats.org/drawingml/2006/main">
              <a:ext uri="{FF2B5EF4-FFF2-40B4-BE49-F238E27FC236}">
                <a16:creationId xmlns:a16="http://schemas.microsoft.com/office/drawing/2014/main" id="{7770CCE8-871A-4023-B12D-A1A18D1F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THE FOUR-CASE DATASET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Box 2">
            <a:extLst xmlns:a="http://schemas.openxmlformats.org/drawingml/2006/main">
              <a:ext uri="{FF2B5EF4-FFF2-40B4-BE49-F238E27FC236}">
                <a16:creationId xmlns:a16="http://schemas.microsoft.com/office/drawing/2014/main" id="{DB72AEB5-F0FD-4C83-BAE3-CFAD1813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1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Four cases cover normal work and likely failures</a:t>
            </a:r>
            <a:endParaRPr sz="3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194880F-E913-4931-AFBE-7ABA6710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3" name="TextBox 4">
            <a:extLst xmlns:a="http://schemas.openxmlformats.org/drawingml/2006/main">
              <a:ext uri="{FF2B5EF4-FFF2-40B4-BE49-F238E27FC236}">
                <a16:creationId xmlns:a16="http://schemas.microsoft.com/office/drawing/2014/main" id="{294EDEE4-1DBF-4380-84AC-CBCD8656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RUN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5F0E1CC-D27E-4A94-97DE-E82F4136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5" name="TextBox 6">
            <a:extLst xmlns:a="http://schemas.openxmlformats.org/drawingml/2006/main">
              <a:ext uri="{FF2B5EF4-FFF2-40B4-BE49-F238E27FC236}">
                <a16:creationId xmlns:a16="http://schemas.microsoft.com/office/drawing/2014/main" id="{045B5E42-92DF-4781-90AC-F0B49487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OBSERVE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F015556-7098-4B3C-AC0E-8EB52406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7" name="TextBox 8">
            <a:extLst xmlns:a="http://schemas.openxmlformats.org/drawingml/2006/main">
              <a:ext uri="{FF2B5EF4-FFF2-40B4-BE49-F238E27FC236}">
                <a16:creationId xmlns:a16="http://schemas.microsoft.com/office/drawing/2014/main" id="{AE99DEC4-9884-424B-A941-BB470EB4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CURATE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D3EC4C6-7A6F-4B66-A0B9-ECCD8B51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9" name="TextBox 10">
            <a:extLst xmlns:a="http://schemas.openxmlformats.org/drawingml/2006/main">
              <a:ext uri="{FF2B5EF4-FFF2-40B4-BE49-F238E27FC236}">
                <a16:creationId xmlns:a16="http://schemas.microsoft.com/office/drawing/2014/main" id="{379945CA-554D-4054-8022-7F0B82D9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EVALUATE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0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E2AA504-7F13-4B89-B92F-2D14FDE7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1" name="TextBox 12">
            <a:extLst xmlns:a="http://schemas.openxmlformats.org/drawingml/2006/main">
              <a:ext uri="{FF2B5EF4-FFF2-40B4-BE49-F238E27FC236}">
                <a16:creationId xmlns:a16="http://schemas.microsoft.com/office/drawing/2014/main" id="{983D6E8B-8084-42D8-8D08-E9C8CE3E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IMPROVE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2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AEA2B18-72AD-4785-949B-08ED4B22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3" name="TextBox 14">
            <a:extLst xmlns:a="http://schemas.openxmlformats.org/drawingml/2006/main">
              <a:ext uri="{FF2B5EF4-FFF2-40B4-BE49-F238E27FC236}">
                <a16:creationId xmlns:a16="http://schemas.microsoft.com/office/drawing/2014/main" id="{7A827995-795E-41CA-A146-9D791127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DECIDE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4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5FCC709-3003-46B7-A74E-851CA07F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2697120" cy="26056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5" name="Oval 16">
            <a:extLst xmlns:a="http://schemas.openxmlformats.org/drawingml/2006/main">
              <a:ext uri="{FF2B5EF4-FFF2-40B4-BE49-F238E27FC236}">
                <a16:creationId xmlns:a16="http://schemas.microsoft.com/office/drawing/2014/main" id="{1F2E1D90-BD1E-4CD4-96ED-9886E520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00" y="2194560"/>
            <a:ext cx="383760" cy="383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6" name="TextBox 17">
            <a:extLst xmlns:a="http://schemas.openxmlformats.org/drawingml/2006/main">
              <a:ext uri="{FF2B5EF4-FFF2-40B4-BE49-F238E27FC236}">
                <a16:creationId xmlns:a16="http://schemas.microsoft.com/office/drawing/2014/main" id="{1DF5276F-5C5A-430A-A6EA-3BF86F02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00" y="2194560"/>
            <a:ext cx="383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7" name="TextBox 18">
            <a:extLst xmlns:a="http://schemas.openxmlformats.org/drawingml/2006/main">
              <a:ext uri="{FF2B5EF4-FFF2-40B4-BE49-F238E27FC236}">
                <a16:creationId xmlns:a16="http://schemas.microsoft.com/office/drawing/2014/main" id="{3D2336D9-6EFA-4971-B637-AA82B112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00" y="2788920"/>
            <a:ext cx="223992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NORMAL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8" name="TextBox 19">
            <a:extLst xmlns:a="http://schemas.openxmlformats.org/drawingml/2006/main">
              <a:ext uri="{FF2B5EF4-FFF2-40B4-BE49-F238E27FC236}">
                <a16:creationId xmlns:a16="http://schemas.microsoft.com/office/drawing/2014/main" id="{4F578D49-E837-4780-B5E9-443B2B13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00" y="3291840"/>
            <a:ext cx="2212560" cy="109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From history • close only Honeycomb’s requested tickets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9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51E459D-9E87-409B-8541-1527A0C3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560" y="1920240"/>
            <a:ext cx="2697120" cy="26056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0" name="Oval 21">
            <a:extLst xmlns:a="http://schemas.openxmlformats.org/drawingml/2006/main">
              <a:ext uri="{FF2B5EF4-FFF2-40B4-BE49-F238E27FC236}">
                <a16:creationId xmlns:a16="http://schemas.microsoft.com/office/drawing/2014/main" id="{DF0A507A-22D0-48A0-9124-23B70B6E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880" y="2194560"/>
            <a:ext cx="383760" cy="383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1" name="TextBox 22">
            <a:extLst xmlns:a="http://schemas.openxmlformats.org/drawingml/2006/main">
              <a:ext uri="{FF2B5EF4-FFF2-40B4-BE49-F238E27FC236}">
                <a16:creationId xmlns:a16="http://schemas.microsoft.com/office/drawing/2014/main" id="{CD8028D0-CA78-44FC-A682-A9AB7FBA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880" y="2194560"/>
            <a:ext cx="383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2" name="TextBox 23">
            <a:extLst xmlns:a="http://schemas.openxmlformats.org/drawingml/2006/main">
              <a:ext uri="{FF2B5EF4-FFF2-40B4-BE49-F238E27FC236}">
                <a16:creationId xmlns:a16="http://schemas.microsoft.com/office/drawing/2014/main" id="{6FB1A51F-0E63-4200-94A3-11C60449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880" y="2788920"/>
            <a:ext cx="223992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MIXED CUSTOMER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3" name="TextBox 24">
            <a:extLst xmlns:a="http://schemas.openxmlformats.org/drawingml/2006/main">
              <a:ext uri="{FF2B5EF4-FFF2-40B4-BE49-F238E27FC236}">
                <a16:creationId xmlns:a16="http://schemas.microsoft.com/office/drawing/2014/main" id="{3B649241-0A06-4200-A5E8-73605EDF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880" y="3291840"/>
            <a:ext cx="2212560" cy="109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Designed test • Honeycomb must not change Pollen’s ticket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4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CB159C68-7E2A-4136-A0E4-AE33821A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840" y="1920240"/>
            <a:ext cx="2697120" cy="26056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5" name="Oval 26">
            <a:extLst xmlns:a="http://schemas.openxmlformats.org/drawingml/2006/main">
              <a:ext uri="{FF2B5EF4-FFF2-40B4-BE49-F238E27FC236}">
                <a16:creationId xmlns:a16="http://schemas.microsoft.com/office/drawing/2014/main" id="{923B3661-6D06-490D-B69B-8C5B1C82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4560"/>
            <a:ext cx="383760" cy="383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6" name="TextBox 27">
            <a:extLst xmlns:a="http://schemas.openxmlformats.org/drawingml/2006/main">
              <a:ext uri="{FF2B5EF4-FFF2-40B4-BE49-F238E27FC236}">
                <a16:creationId xmlns:a16="http://schemas.microsoft.com/office/drawing/2014/main" id="{DA4F0BAD-843E-4CD9-92E8-7A27C5EB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4560"/>
            <a:ext cx="383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7" name="TextBox 28">
            <a:extLst xmlns:a="http://schemas.openxmlformats.org/drawingml/2006/main">
              <a:ext uri="{FF2B5EF4-FFF2-40B4-BE49-F238E27FC236}">
                <a16:creationId xmlns:a16="http://schemas.microsoft.com/office/drawing/2014/main" id="{59FF5546-A3B5-4D97-8A36-F5942E7C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8920"/>
            <a:ext cx="223992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RETRY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8" name="TextBox 29">
            <a:extLst xmlns:a="http://schemas.openxmlformats.org/drawingml/2006/main">
              <a:ext uri="{FF2B5EF4-FFF2-40B4-BE49-F238E27FC236}">
                <a16:creationId xmlns:a16="http://schemas.microsoft.com/office/drawing/2014/main" id="{DF333B9E-6BE5-4C34-8810-021A574E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1840"/>
            <a:ext cx="2212560" cy="109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Designed test • repeat without doing the work twice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9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B1F70415-8DDB-4B8D-8DD8-42BD0140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1920240"/>
            <a:ext cx="2697120" cy="26056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0" name="Oval 31">
            <a:extLst xmlns:a="http://schemas.openxmlformats.org/drawingml/2006/main">
              <a:ext uri="{FF2B5EF4-FFF2-40B4-BE49-F238E27FC236}">
                <a16:creationId xmlns:a16="http://schemas.microsoft.com/office/drawing/2014/main" id="{2815F505-58CF-4E82-A590-37AF5EFC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720" y="2194560"/>
            <a:ext cx="383760" cy="383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1" name="TextBox 32">
            <a:extLst xmlns:a="http://schemas.openxmlformats.org/drawingml/2006/main">
              <a:ext uri="{FF2B5EF4-FFF2-40B4-BE49-F238E27FC236}">
                <a16:creationId xmlns:a16="http://schemas.microsoft.com/office/drawing/2014/main" id="{46D62A78-D1C1-4334-89C4-9D53B44D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720" y="2194560"/>
            <a:ext cx="383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2" name="TextBox 33">
            <a:extLst xmlns:a="http://schemas.openxmlformats.org/drawingml/2006/main">
              <a:ext uri="{FF2B5EF4-FFF2-40B4-BE49-F238E27FC236}">
                <a16:creationId xmlns:a16="http://schemas.microsoft.com/office/drawing/2014/main" id="{997164C3-EB0A-44B7-A834-317EB66E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720" y="2788920"/>
            <a:ext cx="223992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INCOMPLETE EVIDENCE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3" name="TextBox 34">
            <a:extLst xmlns:a="http://schemas.openxmlformats.org/drawingml/2006/main">
              <a:ext uri="{FF2B5EF4-FFF2-40B4-BE49-F238E27FC236}">
                <a16:creationId xmlns:a16="http://schemas.microsoft.com/office/drawing/2014/main" id="{CF632C2A-C2F1-403E-A27C-11675D90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720" y="3291840"/>
            <a:ext cx="2212560" cy="109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Based on past cases • send to a person when proof is missing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4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D89D5C93-48E9-4F3D-AB3B-50D83740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11091240" cy="7311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5" name="Oval 36">
            <a:extLst xmlns:a="http://schemas.openxmlformats.org/drawingml/2006/main">
              <a:ext uri="{FF2B5EF4-FFF2-40B4-BE49-F238E27FC236}">
                <a16:creationId xmlns:a16="http://schemas.microsoft.com/office/drawing/2014/main" id="{415D8485-B657-48BB-A9AF-3CFB8C6E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65920"/>
            <a:ext cx="383760" cy="383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6" name="TextBox 37">
            <a:extLst xmlns:a="http://schemas.openxmlformats.org/drawingml/2006/main">
              <a:ext uri="{FF2B5EF4-FFF2-40B4-BE49-F238E27FC236}">
                <a16:creationId xmlns:a16="http://schemas.microsoft.com/office/drawing/2014/main" id="{A7DB38CC-FD8E-4F89-9269-8F0B45EF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65920"/>
            <a:ext cx="383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7" name="TextBox 38">
            <a:extLst xmlns:a="http://schemas.openxmlformats.org/drawingml/2006/main">
              <a:ext uri="{FF2B5EF4-FFF2-40B4-BE49-F238E27FC236}">
                <a16:creationId xmlns:a16="http://schemas.microsoft.com/office/drawing/2014/main" id="{EE6596D5-B78B-49D4-890C-A8D3A32A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892040"/>
            <a:ext cx="996660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1" u="none" spc="150">
                <a:solidFill>
                  <a:srgbClr val="0B0F16"/>
                </a:solidFill>
                <a:latin typeface="Arial"/>
                <a:ea typeface="Arial"/>
                <a:cs typeface="Arial"/>
              </a:rPr>
              <a:t>EACH CASE   </a:t>
            </a:r>
            <a:r>
              <a:rPr sz="1300" b="0" u="none">
                <a:solidFill>
                  <a:srgbClr val="2A3340"/>
                </a:solidFill>
                <a:latin typeface="Courier New"/>
                <a:ea typeface="Courier New"/>
                <a:cs typeface="Courier New"/>
              </a:rPr>
              <a:t>request + expected result + source + risk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Box 39">
            <a:extLst xmlns:a="http://schemas.openxmlformats.org/drawingml/2006/main">
              <a:ext uri="{FF2B5EF4-FFF2-40B4-BE49-F238E27FC236}">
                <a16:creationId xmlns:a16="http://schemas.microsoft.com/office/drawing/2014/main" id="{76D864AB-FCCF-4C74-8B8F-392DE291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WEAVE STOP 2 → PUBLISH THE FOUR CASES → OPEN THE DATASET IN WEAVE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Box 40">
            <a:extLst xmlns:a="http://schemas.openxmlformats.org/drawingml/2006/main">
              <a:ext uri="{FF2B5EF4-FFF2-40B4-BE49-F238E27FC236}">
                <a16:creationId xmlns:a16="http://schemas.microsoft.com/office/drawing/2014/main" id="{9F05E310-9AF0-439F-9505-9CE5C557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12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75119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0" name="TextBox 1">
            <a:extLst xmlns:a="http://schemas.openxmlformats.org/drawingml/2006/main">
              <a:ext uri="{FF2B5EF4-FFF2-40B4-BE49-F238E27FC236}">
                <a16:creationId xmlns:a16="http://schemas.microsoft.com/office/drawing/2014/main" id="{2CDF68AB-767A-44F6-8EE4-3D2F4F69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CHAPTER 3 • SCORERS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1" name="TextBox 2">
            <a:extLst xmlns:a="http://schemas.openxmlformats.org/drawingml/2006/main">
              <a:ext uri="{FF2B5EF4-FFF2-40B4-BE49-F238E27FC236}">
                <a16:creationId xmlns:a16="http://schemas.microsoft.com/office/drawing/2014/main" id="{ED3EC8B6-9312-4CE1-A068-AA3A7251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3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Each scorer asks one question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9BC0263-CCED-4965-A66D-8FE4DFEB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3" name="TextBox 4">
            <a:extLst xmlns:a="http://schemas.openxmlformats.org/drawingml/2006/main">
              <a:ext uri="{FF2B5EF4-FFF2-40B4-BE49-F238E27FC236}">
                <a16:creationId xmlns:a16="http://schemas.microsoft.com/office/drawing/2014/main" id="{31D1C76A-C2B2-4045-BCD0-B2903885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RUN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593BB8E-7923-410C-839F-9C1392E5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5" name="TextBox 6">
            <a:extLst xmlns:a="http://schemas.openxmlformats.org/drawingml/2006/main">
              <a:ext uri="{FF2B5EF4-FFF2-40B4-BE49-F238E27FC236}">
                <a16:creationId xmlns:a16="http://schemas.microsoft.com/office/drawing/2014/main" id="{C4530ADF-E912-4767-9E91-76DD4DF9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OBSERVE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E1C1E11-61C1-432A-A676-51629C74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7" name="TextBox 8">
            <a:extLst xmlns:a="http://schemas.openxmlformats.org/drawingml/2006/main">
              <a:ext uri="{FF2B5EF4-FFF2-40B4-BE49-F238E27FC236}">
                <a16:creationId xmlns:a16="http://schemas.microsoft.com/office/drawing/2014/main" id="{7EEE7B2B-8E0E-4BB0-9AD3-5D769F0F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CURATE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868B82B-8BE7-4A38-BEA8-44BE5D87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9" name="TextBox 10">
            <a:extLst xmlns:a="http://schemas.openxmlformats.org/drawingml/2006/main">
              <a:ext uri="{FF2B5EF4-FFF2-40B4-BE49-F238E27FC236}">
                <a16:creationId xmlns:a16="http://schemas.microsoft.com/office/drawing/2014/main" id="{C4DBF1A3-B483-482A-93F4-9D5AB0BE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CE415FD-5527-4860-9473-D0C5E28C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1" name="TextBox 12">
            <a:extLst xmlns:a="http://schemas.openxmlformats.org/drawingml/2006/main">
              <a:ext uri="{FF2B5EF4-FFF2-40B4-BE49-F238E27FC236}">
                <a16:creationId xmlns:a16="http://schemas.microsoft.com/office/drawing/2014/main" id="{87D2D736-0F08-47CA-99E5-710D7D4B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IMPROVE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DCDB431-0153-4F7C-AED8-27C4157C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3" name="TextBox 14">
            <a:extLst xmlns:a="http://schemas.openxmlformats.org/drawingml/2006/main">
              <a:ext uri="{FF2B5EF4-FFF2-40B4-BE49-F238E27FC236}">
                <a16:creationId xmlns:a16="http://schemas.microsoft.com/office/drawing/2014/main" id="{1C6C9D18-59DD-4958-BCB4-0501B4D3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DECIDE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4" name="TextBox 15">
            <a:extLst xmlns:a="http://schemas.openxmlformats.org/drawingml/2006/main">
              <a:ext uri="{FF2B5EF4-FFF2-40B4-BE49-F238E27FC236}">
                <a16:creationId xmlns:a16="http://schemas.microsoft.com/office/drawing/2014/main" id="{AF391EDC-B278-41F4-9737-86D839B8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47160"/>
            <a:ext cx="36572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FOUR QUESTIONS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5" name="TextBox 16">
            <a:extLst xmlns:a="http://schemas.openxmlformats.org/drawingml/2006/main">
              <a:ext uri="{FF2B5EF4-FFF2-40B4-BE49-F238E27FC236}">
                <a16:creationId xmlns:a16="http://schemas.microsoft.com/office/drawing/2014/main" id="{32EDCEA3-90BE-4551-B836-01E9528F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160"/>
            <a:ext cx="36572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ONE SCORECARD FOR EACH CASE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6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AE5A07D-4212-4BCB-8BB8-DF2F3DC2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5467680" cy="17002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7" name="TextBox 18">
            <a:extLst xmlns:a="http://schemas.openxmlformats.org/drawingml/2006/main">
              <a:ext uri="{FF2B5EF4-FFF2-40B4-BE49-F238E27FC236}">
                <a16:creationId xmlns:a16="http://schemas.microsoft.com/office/drawing/2014/main" id="{5BC92505-BE28-45CA-BDBA-134B0174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60320"/>
            <a:ext cx="48459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REQUIRED CHECKS • EXACT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8" name="TextBox 19">
            <a:extLst xmlns:a="http://schemas.openxmlformats.org/drawingml/2006/main">
              <a:ext uri="{FF2B5EF4-FFF2-40B4-BE49-F238E27FC236}">
                <a16:creationId xmlns:a16="http://schemas.microsoft.com/office/drawing/2014/main" id="{6EC318A0-480F-40DE-AA22-E13FCC32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26080"/>
            <a:ext cx="484596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7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Did the expected checks pass?</a:t>
            </a:r>
            <a:endParaRPr sz="1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9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1046AD1E-538F-4AC8-B52C-FD0997EE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5467680" cy="17002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0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EF3243-41ED-4DFB-82FD-B806121D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60320"/>
            <a:ext cx="48459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CUSTOMER ISOLATION • EXACT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1" name="TextBox 22">
            <a:extLst xmlns:a="http://schemas.openxmlformats.org/drawingml/2006/main">
              <a:ext uri="{FF2B5EF4-FFF2-40B4-BE49-F238E27FC236}">
                <a16:creationId xmlns:a16="http://schemas.microsoft.com/office/drawing/2014/main" id="{4457ECE1-C9D6-44B0-B9B4-AB61A216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26080"/>
            <a:ext cx="484596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7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Did Honeycomb change Pollen’s data?</a:t>
            </a:r>
            <a:endParaRPr sz="1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2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7A1D6281-C5CD-4330-8E2C-5101BB81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42160"/>
            <a:ext cx="5467680" cy="17002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3" name="TextBox 24">
            <a:extLst xmlns:a="http://schemas.openxmlformats.org/drawingml/2006/main">
              <a:ext uri="{FF2B5EF4-FFF2-40B4-BE49-F238E27FC236}">
                <a16:creationId xmlns:a16="http://schemas.microsoft.com/office/drawing/2014/main" id="{3C66ADF4-8FF2-45AC-B5AE-2C66DDE5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16480"/>
            <a:ext cx="48459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50" b="1" u="none" spc="150">
                <a:solidFill>
                  <a:srgbClr val="2375FF"/>
                </a:solidFill>
                <a:latin typeface="Arial"/>
                <a:ea typeface="Arial"/>
                <a:cs typeface="Arial"/>
              </a:rPr>
              <a:t>RETRY • EXACT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4" name="TextBox 25">
            <a:extLst xmlns:a="http://schemas.openxmlformats.org/drawingml/2006/main">
              <a:ext uri="{FF2B5EF4-FFF2-40B4-BE49-F238E27FC236}">
                <a16:creationId xmlns:a16="http://schemas.microsoft.com/office/drawing/2014/main" id="{8437C4EB-B4ED-4094-85C7-ECF97BBF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82240"/>
            <a:ext cx="484596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7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Did a retry do the work twice?</a:t>
            </a:r>
            <a:endParaRPr sz="1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5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4F7DA761-55E3-41D6-AFE4-7D2C8F05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42160"/>
            <a:ext cx="5467680" cy="17002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6" name="TextBox 27">
            <a:extLst xmlns:a="http://schemas.openxmlformats.org/drawingml/2006/main">
              <a:ext uri="{FF2B5EF4-FFF2-40B4-BE49-F238E27FC236}">
                <a16:creationId xmlns:a16="http://schemas.microsoft.com/office/drawing/2014/main" id="{1892080C-FB4E-452B-B473-F7D9FDAA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16480"/>
            <a:ext cx="48459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50" b="1" u="none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LLM JUDGE • LIVE MODEL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7" name="TextBox 28">
            <a:extLst xmlns:a="http://schemas.openxmlformats.org/drawingml/2006/main">
              <a:ext uri="{FF2B5EF4-FFF2-40B4-BE49-F238E27FC236}">
                <a16:creationId xmlns:a16="http://schemas.microsoft.com/office/drawing/2014/main" id="{063C1CEA-B4BA-4CFC-874E-1E13DBDE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782240"/>
            <a:ext cx="484596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75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Did the evidence meet the written rules?</a:t>
            </a:r>
            <a:endParaRPr sz="1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8" name="TextBox 29">
            <a:extLst xmlns:a="http://schemas.openxmlformats.org/drawingml/2006/main">
              <a:ext uri="{FF2B5EF4-FFF2-40B4-BE49-F238E27FC236}">
                <a16:creationId xmlns:a16="http://schemas.microsoft.com/office/drawing/2014/main" id="{5A7578CC-6823-4DA9-899E-1ACDADDA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468040"/>
            <a:ext cx="4845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150">
                <a:solidFill>
                  <a:srgbClr val="BFD6FF"/>
                </a:solidFill>
                <a:latin typeface="Arial"/>
                <a:ea typeface="Arial"/>
                <a:cs typeface="Arial"/>
              </a:rPr>
              <a:t>RUNS THROUGH W&amp;B SERVERLESS INFERENCE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9" name="TextBox 30">
            <a:extLst xmlns:a="http://schemas.openxmlformats.org/drawingml/2006/main">
              <a:ext uri="{FF2B5EF4-FFF2-40B4-BE49-F238E27FC236}">
                <a16:creationId xmlns:a16="http://schemas.microsoft.com/office/drawing/2014/main" id="{F187499A-A53D-4BC0-AF63-7F4B426A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SCORER — A REPEATABLE WAY TO GRADE ONE RESULT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0" name="TextBox 31">
            <a:extLst xmlns:a="http://schemas.openxmlformats.org/drawingml/2006/main">
              <a:ext uri="{FF2B5EF4-FFF2-40B4-BE49-F238E27FC236}">
                <a16:creationId xmlns:a16="http://schemas.microsoft.com/office/drawing/2014/main" id="{56D96989-95AA-4C24-A563-680F6798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13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4080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1" name="TextBox 1">
            <a:extLst xmlns:a="http://schemas.openxmlformats.org/drawingml/2006/main">
              <a:ext uri="{FF2B5EF4-FFF2-40B4-BE49-F238E27FC236}">
                <a16:creationId xmlns:a16="http://schemas.microsoft.com/office/drawing/2014/main" id="{6906BD79-BBC0-4B3E-B813-DB118923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TWO KINDS OF SCORING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2" name="TextBox 2">
            <a:extLst xmlns:a="http://schemas.openxmlformats.org/drawingml/2006/main">
              <a:ext uri="{FF2B5EF4-FFF2-40B4-BE49-F238E27FC236}">
                <a16:creationId xmlns:a16="http://schemas.microsoft.com/office/drawing/2014/main" id="{C00D5E21-391F-4870-8321-2B82CF7D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9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Rules check facts. The LLM judge explains judgment calls.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3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4EBC3C25-70DD-44A7-8A70-505BE36F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4" name="TextBox 4">
            <a:extLst xmlns:a="http://schemas.openxmlformats.org/drawingml/2006/main">
              <a:ext uri="{FF2B5EF4-FFF2-40B4-BE49-F238E27FC236}">
                <a16:creationId xmlns:a16="http://schemas.microsoft.com/office/drawing/2014/main" id="{C583BBF8-096E-4652-8A1E-E37CED5F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RUN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8D485F5-652B-44AE-8BBC-438074A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6" name="TextBox 6">
            <a:extLst xmlns:a="http://schemas.openxmlformats.org/drawingml/2006/main">
              <a:ext uri="{FF2B5EF4-FFF2-40B4-BE49-F238E27FC236}">
                <a16:creationId xmlns:a16="http://schemas.microsoft.com/office/drawing/2014/main" id="{7EE91FDB-347F-45F6-8714-5FC9B8CD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OBSERVE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7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46D9FC2-250A-4E7D-BDA2-A5870D7A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8" name="TextBox 8">
            <a:extLst xmlns:a="http://schemas.openxmlformats.org/drawingml/2006/main">
              <a:ext uri="{FF2B5EF4-FFF2-40B4-BE49-F238E27FC236}">
                <a16:creationId xmlns:a16="http://schemas.microsoft.com/office/drawing/2014/main" id="{4C35A985-290E-4801-8C91-58944FC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CURATE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9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5E6D317-CD89-435D-9749-3DA130C1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456D118-9AD7-4CF4-8883-6A371475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54B7E0D-18EE-42B1-83D2-648267EC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2DEDF4D-F2F5-450A-BAF7-636E4226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IMPROVE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3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E48FB22-522F-4AF1-89C7-0744EDA2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6FA2C69-D50D-4B46-8232-42F8189C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DECIDE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5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A796C1C-FD95-4F60-B13D-9AE9C1CA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5394600" cy="35200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6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E8CE2BE-7E91-4051-A901-B50F9959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12920"/>
            <a:ext cx="2651400" cy="36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F16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5AE2E8F-E59E-4759-A2C6-8E85BA98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12920"/>
            <a:ext cx="2651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95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1 · EXACT RULES</a:t>
            </a:r>
            <a:endParaRPr sz="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8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B27C223-4CCA-40C4-BC4E-2F3E4C81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2000"/>
            <a:ext cx="127800" cy="127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0F16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19C96BC9-C09C-45F6-802D-F036460C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97480"/>
            <a:ext cx="44802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DIRECT CHECK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0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CE209EF-D671-46C8-BFEA-830D21C5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4280"/>
            <a:ext cx="127800" cy="127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0F16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1C0AF35E-57EC-4F4C-AB8D-D8C669DA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09400"/>
            <a:ext cx="44802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0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Same evidence → same answer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2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9EA90544-FAFB-4C48-AF67-F2379DB0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27800" cy="127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0F16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559E45EB-7960-414E-A819-C6BAC53B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721680"/>
            <a:ext cx="44802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0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Good for facts and safety rules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4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8F4377F-1817-486E-B20C-AEA5AC06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98120"/>
            <a:ext cx="127800" cy="127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0F16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D08F263E-D154-453B-B1E0-7849A345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233600"/>
            <a:ext cx="44802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0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Pass / review / block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C6816B5-CACB-46CB-9FA1-D08AB6E7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92040"/>
            <a:ext cx="47545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i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Use when the requirement can be checked directly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7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17CB19AB-712E-44BA-94AC-4FA4350A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280" y="1920240"/>
            <a:ext cx="5394600" cy="352008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8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83686AA7-4942-4F8D-80D5-28CBC071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20" y="2212920"/>
            <a:ext cx="2697120" cy="36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2DC247F7-C32A-4814-822C-8524F913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20" y="2212920"/>
            <a:ext cx="2697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95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2 · LLM JUDGE</a:t>
            </a:r>
            <a:endParaRPr sz="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0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C40E8A46-1EE0-4D51-8136-44984B86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040" y="2862000"/>
            <a:ext cx="127800" cy="127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9FF0DD9B-1730-44ED-A507-AC1CC194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2697480"/>
            <a:ext cx="44802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WRITTEN RULES + EVIDENCE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2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314263BD-0DE9-4B89-8766-59A20D31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040" y="3374280"/>
            <a:ext cx="127800" cy="127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674B901F-E719-400B-9133-7D2E3F17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209400"/>
            <a:ext cx="44802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0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Verdict + explanation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4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4544A032-4671-4E8F-9654-7FEB9B13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040" y="3886200"/>
            <a:ext cx="127800" cy="127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B514A49A-0AF1-4A61-8945-A7AAA8E8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721680"/>
            <a:ext cx="44802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0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Useful when context matters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6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64B3C48D-3576-42AF-91EA-9D7B1005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040" y="4398120"/>
            <a:ext cx="127800" cy="127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4E9B0CA3-9357-475F-ABE8-F0ED6238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4233600"/>
            <a:ext cx="44802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0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May vary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3AD19C3B-702E-44DC-A3CE-6FC7C749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20" y="4892040"/>
            <a:ext cx="484596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i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Live model call—inspect its reasons in Weave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9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B7A54ACF-65A8-4A99-8505-5A0519FF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0"/>
            <a:ext cx="11091240" cy="5025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964380AB-0619-4EFA-8258-D0C13EDF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0"/>
            <a:ext cx="1109124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Human review remains separate from both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383CD896-4159-4ED3-BEBF-BD3F189A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LLM JUDGE — A MODEL THAT GRADES EVIDENCE USING WRITTEN RULES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2DDB6A5C-26BB-48A1-8D89-07676E9B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14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09660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3" name="TextBox 1">
            <a:extLst xmlns:a="http://schemas.openxmlformats.org/drawingml/2006/main">
              <a:ext uri="{FF2B5EF4-FFF2-40B4-BE49-F238E27FC236}">
                <a16:creationId xmlns:a16="http://schemas.microsoft.com/office/drawing/2014/main" id="{F0F552AB-759A-4D34-8E4B-2ABF7066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CHAPTER 3 • EVALUATION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4" name="TextBox 2">
            <a:extLst xmlns:a="http://schemas.openxmlformats.org/drawingml/2006/main">
              <a:ext uri="{FF2B5EF4-FFF2-40B4-BE49-F238E27FC236}">
                <a16:creationId xmlns:a16="http://schemas.microsoft.com/office/drawing/2014/main" id="{835EDB85-8336-4B65-AFE9-C21DFA66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3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For a fair comparison, keep the test the same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5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93A897CC-3C57-436A-8D23-BBAA81F2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6" name="TextBox 4">
            <a:extLst xmlns:a="http://schemas.openxmlformats.org/drawingml/2006/main">
              <a:ext uri="{FF2B5EF4-FFF2-40B4-BE49-F238E27FC236}">
                <a16:creationId xmlns:a16="http://schemas.microsoft.com/office/drawing/2014/main" id="{E478311D-5021-410E-9820-09674E98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RUN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7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72F5181-8C04-4695-93A3-9BD6F29B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8" name="TextBox 6">
            <a:extLst xmlns:a="http://schemas.openxmlformats.org/drawingml/2006/main">
              <a:ext uri="{FF2B5EF4-FFF2-40B4-BE49-F238E27FC236}">
                <a16:creationId xmlns:a16="http://schemas.microsoft.com/office/drawing/2014/main" id="{E33B626D-E91B-402B-B6AC-5C59C7AA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OBSERVE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9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74E00CD-C802-41EB-A261-E09946D4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0" name="TextBox 8">
            <a:extLst xmlns:a="http://schemas.openxmlformats.org/drawingml/2006/main">
              <a:ext uri="{FF2B5EF4-FFF2-40B4-BE49-F238E27FC236}">
                <a16:creationId xmlns:a16="http://schemas.microsoft.com/office/drawing/2014/main" id="{D6E2DEF2-2F5B-4C75-9310-0B837EA0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CURATE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1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168A934-4435-4445-AB45-51F1C9E7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2" name="TextBox 10">
            <a:extLst xmlns:a="http://schemas.openxmlformats.org/drawingml/2006/main">
              <a:ext uri="{FF2B5EF4-FFF2-40B4-BE49-F238E27FC236}">
                <a16:creationId xmlns:a16="http://schemas.microsoft.com/office/drawing/2014/main" id="{B020996F-FAD9-42EF-9591-FF14D146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3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DE6F872-D6FC-448D-8047-F8437738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4" name="TextBox 12">
            <a:extLst xmlns:a="http://schemas.openxmlformats.org/drawingml/2006/main">
              <a:ext uri="{FF2B5EF4-FFF2-40B4-BE49-F238E27FC236}">
                <a16:creationId xmlns:a16="http://schemas.microsoft.com/office/drawing/2014/main" id="{D8F96C05-D22F-4B68-A439-139D74D9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IMPROVE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5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788EFFD-9C41-4756-8BBA-DE4C6F47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6" name="TextBox 14">
            <a:extLst xmlns:a="http://schemas.openxmlformats.org/drawingml/2006/main">
              <a:ext uri="{FF2B5EF4-FFF2-40B4-BE49-F238E27FC236}">
                <a16:creationId xmlns:a16="http://schemas.microsoft.com/office/drawing/2014/main" id="{F6212301-A50C-4801-B3D2-735F8948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DECIDE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7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75E0939-1CD4-4621-9FD8-95F6FFF4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6034680" cy="315432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8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FC9FA953-9450-4CD6-97AF-E3959121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58640"/>
            <a:ext cx="1599840" cy="36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F16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9" name="TextBox 17">
            <a:extLst xmlns:a="http://schemas.openxmlformats.org/drawingml/2006/main">
              <a:ext uri="{FF2B5EF4-FFF2-40B4-BE49-F238E27FC236}">
                <a16:creationId xmlns:a16="http://schemas.microsoft.com/office/drawing/2014/main" id="{050C4BBB-64D2-4F6E-9B98-196E0CED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58640"/>
            <a:ext cx="15998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TEST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0" name="TextBox 18">
            <a:extLst xmlns:a="http://schemas.openxmlformats.org/drawingml/2006/main">
              <a:ext uri="{FF2B5EF4-FFF2-40B4-BE49-F238E27FC236}">
                <a16:creationId xmlns:a16="http://schemas.microsoft.com/office/drawing/2014/main" id="{C25CEB78-3DA1-49D9-B569-E557943C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4640"/>
            <a:ext cx="68544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000" b="1" u="none">
                <a:solidFill>
                  <a:srgbClr val="2375FF"/>
                </a:solidFill>
                <a:latin typeface="Arial"/>
                <a:ea typeface="Arial"/>
                <a:cs typeface="Arial"/>
              </a:rPr>
              <a:t>4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1" name="TextBox 19">
            <a:extLst xmlns:a="http://schemas.openxmlformats.org/drawingml/2006/main">
              <a:ext uri="{FF2B5EF4-FFF2-40B4-BE49-F238E27FC236}">
                <a16:creationId xmlns:a16="http://schemas.microsoft.com/office/drawing/2014/main" id="{E52286D8-659B-4B67-9CE2-FC6545E8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834640"/>
            <a:ext cx="46630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6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cases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2" name="TextBox 20">
            <a:extLst xmlns:a="http://schemas.openxmlformats.org/drawingml/2006/main">
              <a:ext uri="{FF2B5EF4-FFF2-40B4-BE49-F238E27FC236}">
                <a16:creationId xmlns:a16="http://schemas.microsoft.com/office/drawing/2014/main" id="{EE01CFE8-106F-4E4A-BC36-DAE9198A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7800"/>
            <a:ext cx="68544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000" b="1" u="none">
                <a:solidFill>
                  <a:srgbClr val="2375FF"/>
                </a:solidFill>
                <a:latin typeface="Arial"/>
                <a:ea typeface="Arial"/>
                <a:cs typeface="Arial"/>
              </a:rPr>
              <a:t>4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3" name="TextBox 21">
            <a:extLst xmlns:a="http://schemas.openxmlformats.org/drawingml/2006/main">
              <a:ext uri="{FF2B5EF4-FFF2-40B4-BE49-F238E27FC236}">
                <a16:creationId xmlns:a16="http://schemas.microsoft.com/office/drawing/2014/main" id="{9940CED8-43CB-42BF-BAFB-AF368526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547800"/>
            <a:ext cx="46630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6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scorers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4" name="TextBox 22">
            <a:extLst xmlns:a="http://schemas.openxmlformats.org/drawingml/2006/main">
              <a:ext uri="{FF2B5EF4-FFF2-40B4-BE49-F238E27FC236}">
                <a16:creationId xmlns:a16="http://schemas.microsoft.com/office/drawing/2014/main" id="{9F6A5F1B-814C-4C3A-8B15-E1DDE88A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0960"/>
            <a:ext cx="68544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000" b="1" u="none">
                <a:solidFill>
                  <a:srgbClr val="2375FF"/>
                </a:solidFill>
                <a:latin typeface="Arial"/>
                <a:ea typeface="Arial"/>
                <a:cs typeface="Arial"/>
              </a:rPr>
              <a:t>1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5" name="TextBox 23">
            <a:extLst xmlns:a="http://schemas.openxmlformats.org/drawingml/2006/main">
              <a:ext uri="{FF2B5EF4-FFF2-40B4-BE49-F238E27FC236}">
                <a16:creationId xmlns:a16="http://schemas.microsoft.com/office/drawing/2014/main" id="{C37D0127-3C74-4F37-BA7C-220F8C2A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260960"/>
            <a:ext cx="46630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6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rubric + judge model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6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8E01F895-AE41-4AD0-A072-ADA686E9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965960"/>
            <a:ext cx="4827600" cy="315432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7" name="TextBox 25">
            <a:extLst xmlns:a="http://schemas.openxmlformats.org/drawingml/2006/main">
              <a:ext uri="{FF2B5EF4-FFF2-40B4-BE49-F238E27FC236}">
                <a16:creationId xmlns:a16="http://schemas.microsoft.com/office/drawing/2014/main" id="{C7673E22-D118-490A-9235-13F6799B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286000"/>
            <a:ext cx="41144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201">
                <a:solidFill>
                  <a:srgbClr val="BFD6FF"/>
                </a:solidFill>
                <a:latin typeface="Arial"/>
                <a:ea typeface="Arial"/>
                <a:cs typeface="Arial"/>
              </a:rPr>
              <a:t>ONLY CHANGE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8" name="TextBox 26">
            <a:extLst xmlns:a="http://schemas.openxmlformats.org/drawingml/2006/main">
              <a:ext uri="{FF2B5EF4-FFF2-40B4-BE49-F238E27FC236}">
                <a16:creationId xmlns:a16="http://schemas.microsoft.com/office/drawing/2014/main" id="{1E82A9B0-8B21-4E31-99BE-E48F75A6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697480"/>
            <a:ext cx="41144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7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PATCHPILOT VERSION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9" name="TextBox 27">
            <a:extLst xmlns:a="http://schemas.openxmlformats.org/drawingml/2006/main">
              <a:ext uri="{FF2B5EF4-FFF2-40B4-BE49-F238E27FC236}">
                <a16:creationId xmlns:a16="http://schemas.microsoft.com/office/drawing/2014/main" id="{AC7AAE44-A4E9-4A9F-B026-66D6B662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200400"/>
            <a:ext cx="41144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40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V1 → V2</a:t>
            </a:r>
            <a:endParaRPr sz="4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0" name="TextBox 28">
            <a:extLst xmlns:a="http://schemas.openxmlformats.org/drawingml/2006/main">
              <a:ext uri="{FF2B5EF4-FFF2-40B4-BE49-F238E27FC236}">
                <a16:creationId xmlns:a16="http://schemas.microsoft.com/office/drawing/2014/main" id="{2AD400A7-F694-45EC-BAB0-FE5C3662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114800"/>
            <a:ext cx="4114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0" u="none">
                <a:solidFill>
                  <a:srgbClr val="DDE9FF"/>
                </a:solidFill>
                <a:latin typeface="Arial"/>
                <a:ea typeface="Arial"/>
                <a:cs typeface="Arial"/>
              </a:rPr>
              <a:t>now checks ticket owner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1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E5F7901A-2191-490F-9153-16F493B1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94960"/>
            <a:ext cx="11091240" cy="68544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2" name="TextBox 30">
            <a:extLst xmlns:a="http://schemas.openxmlformats.org/drawingml/2006/main">
              <a:ext uri="{FF2B5EF4-FFF2-40B4-BE49-F238E27FC236}">
                <a16:creationId xmlns:a16="http://schemas.microsoft.com/office/drawing/2014/main" id="{02E94BD1-FA7F-44CE-A3AE-3D70A647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94960"/>
            <a:ext cx="1109124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300" b="1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Evaluation = saved test setup • Evaluation run = one use of that setup on one version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3" name="TextBox 31">
            <a:extLst xmlns:a="http://schemas.openxmlformats.org/drawingml/2006/main">
              <a:ext uri="{FF2B5EF4-FFF2-40B4-BE49-F238E27FC236}">
                <a16:creationId xmlns:a16="http://schemas.microsoft.com/office/drawing/2014/main" id="{83D25C4B-D249-48F1-A030-14FC5892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SAME CASES + SCORERS + RULES + JUDGE MODEL • CHANGE ONLY PATCHPILOT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4" name="TextBox 32">
            <a:extLst xmlns:a="http://schemas.openxmlformats.org/drawingml/2006/main">
              <a:ext uri="{FF2B5EF4-FFF2-40B4-BE49-F238E27FC236}">
                <a16:creationId xmlns:a16="http://schemas.microsoft.com/office/drawing/2014/main" id="{1C579E1A-FAB3-43DE-83F6-A0984AA0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15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21416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5" name="TextBox 1">
            <a:extLst xmlns:a="http://schemas.openxmlformats.org/drawingml/2006/main">
              <a:ext uri="{FF2B5EF4-FFF2-40B4-BE49-F238E27FC236}">
                <a16:creationId xmlns:a16="http://schemas.microsoft.com/office/drawing/2014/main" id="{9BE3132E-8AF5-4EF2-BD64-AC5F95BE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WEAVE STOP 3 • VERSION 1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6" name="TextBox 2">
            <a:extLst xmlns:a="http://schemas.openxmlformats.org/drawingml/2006/main">
              <a:ext uri="{FF2B5EF4-FFF2-40B4-BE49-F238E27FC236}">
                <a16:creationId xmlns:a16="http://schemas.microsoft.com/office/drawing/2014/main" id="{40DC872B-A43E-4D3A-AED3-558CB445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3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Version 1 is our starting point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7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43D03D81-FAC6-4C7B-A8A6-C11A32A8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8" name="TextBox 4">
            <a:extLst xmlns:a="http://schemas.openxmlformats.org/drawingml/2006/main">
              <a:ext uri="{FF2B5EF4-FFF2-40B4-BE49-F238E27FC236}">
                <a16:creationId xmlns:a16="http://schemas.microsoft.com/office/drawing/2014/main" id="{E03079D3-320A-48F6-88BF-6C96A4CC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RUN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9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8093032-99D6-4773-A1A4-CE00A9A0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0" name="TextBox 6">
            <a:extLst xmlns:a="http://schemas.openxmlformats.org/drawingml/2006/main">
              <a:ext uri="{FF2B5EF4-FFF2-40B4-BE49-F238E27FC236}">
                <a16:creationId xmlns:a16="http://schemas.microsoft.com/office/drawing/2014/main" id="{F00BAACF-45D9-4A39-AB67-793FCE45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OBSERVE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1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ACA5037-159F-430B-AA60-71CFD72F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2" name="TextBox 8">
            <a:extLst xmlns:a="http://schemas.openxmlformats.org/drawingml/2006/main">
              <a:ext uri="{FF2B5EF4-FFF2-40B4-BE49-F238E27FC236}">
                <a16:creationId xmlns:a16="http://schemas.microsoft.com/office/drawing/2014/main" id="{39BAE62B-6089-4005-9F21-759B0D9C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CURATE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3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285D8F-3A93-4BD4-B734-4384390D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4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561A17-172B-47C0-8143-A8359777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5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FB29CF7-0D25-45F7-8780-1A7B19F1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6" name="TextBox 12">
            <a:extLst xmlns:a="http://schemas.openxmlformats.org/drawingml/2006/main">
              <a:ext uri="{FF2B5EF4-FFF2-40B4-BE49-F238E27FC236}">
                <a16:creationId xmlns:a16="http://schemas.microsoft.com/office/drawing/2014/main" id="{525ADB94-7B26-4A29-BAE6-820E5993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IMPROVE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7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192749C-C074-4364-965E-5B764415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8" name="TextBox 14">
            <a:extLst xmlns:a="http://schemas.openxmlformats.org/drawingml/2006/main">
              <a:ext uri="{FF2B5EF4-FFF2-40B4-BE49-F238E27FC236}">
                <a16:creationId xmlns:a16="http://schemas.microsoft.com/office/drawing/2014/main" id="{4018F187-D3C9-49F6-9456-AAE53AAD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DECIDE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9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02FF651-D386-40C3-8365-E4A1C901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3565800" cy="223992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0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5DE9D77D-B7F5-48BF-A169-CADEF4F3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1188360" cy="36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345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1" name="TextBox 17">
            <a:extLst xmlns:a="http://schemas.openxmlformats.org/drawingml/2006/main">
              <a:ext uri="{FF2B5EF4-FFF2-40B4-BE49-F238E27FC236}">
                <a16:creationId xmlns:a16="http://schemas.microsoft.com/office/drawing/2014/main" id="{276C6635-94D7-407D-9506-B54B24D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118836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5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2" name="TextBox 18">
            <a:extLst xmlns:a="http://schemas.openxmlformats.org/drawingml/2006/main">
              <a:ext uri="{FF2B5EF4-FFF2-40B4-BE49-F238E27FC236}">
                <a16:creationId xmlns:a16="http://schemas.microsoft.com/office/drawing/2014/main" id="{6874F73F-80B1-4C2B-9F66-D4812450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97480"/>
            <a:ext cx="301716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NORMAL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RETRY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3" name="TextBox 19">
            <a:extLst xmlns:a="http://schemas.openxmlformats.org/drawingml/2006/main">
              <a:ext uri="{FF2B5EF4-FFF2-40B4-BE49-F238E27FC236}">
                <a16:creationId xmlns:a16="http://schemas.microsoft.com/office/drawing/2014/main" id="{877EFC52-496B-4F3B-8BA2-A197EA56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20440"/>
            <a:ext cx="30171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Expected behavior holds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4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1BE78FF3-081E-45DA-BFA4-9D1F2B0E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360" y="1874520"/>
            <a:ext cx="3565800" cy="223992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BE9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5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4ECFB8D-F17A-49C7-A6FA-B7278061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680" y="2148840"/>
            <a:ext cx="1188360" cy="36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2E4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6" name="TextBox 22">
            <a:extLst xmlns:a="http://schemas.openxmlformats.org/drawingml/2006/main">
              <a:ext uri="{FF2B5EF4-FFF2-40B4-BE49-F238E27FC236}">
                <a16:creationId xmlns:a16="http://schemas.microsoft.com/office/drawing/2014/main" id="{40668A96-8239-4B6F-9324-6AC8A191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680" y="2148840"/>
            <a:ext cx="118836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5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7" name="TextBox 23">
            <a:extLst xmlns:a="http://schemas.openxmlformats.org/drawingml/2006/main">
              <a:ext uri="{FF2B5EF4-FFF2-40B4-BE49-F238E27FC236}">
                <a16:creationId xmlns:a16="http://schemas.microsoft.com/office/drawing/2014/main" id="{FB119786-DD61-4719-8546-7888B012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680" y="2697480"/>
            <a:ext cx="301716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MIXED CUSTOMER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8" name="TextBox 24">
            <a:extLst xmlns:a="http://schemas.openxmlformats.org/drawingml/2006/main">
              <a:ext uri="{FF2B5EF4-FFF2-40B4-BE49-F238E27FC236}">
                <a16:creationId xmlns:a16="http://schemas.microsoft.com/office/drawing/2014/main" id="{F1257E96-37A2-4593-91B9-E64A729F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680" y="3520440"/>
            <a:ext cx="30171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Pollen’s ticket changed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9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7F420DF7-2509-4AC7-ACD3-EA534440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80" y="1874520"/>
            <a:ext cx="3565800" cy="223992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0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7F04850A-E4C9-4C82-86B6-F21D0215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00" y="2148840"/>
            <a:ext cx="1188360" cy="36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5B00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1" name="TextBox 27">
            <a:extLst xmlns:a="http://schemas.openxmlformats.org/drawingml/2006/main">
              <a:ext uri="{FF2B5EF4-FFF2-40B4-BE49-F238E27FC236}">
                <a16:creationId xmlns:a16="http://schemas.microsoft.com/office/drawing/2014/main" id="{342BAC22-88E2-4FE4-A3F3-31569E4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00" y="2148840"/>
            <a:ext cx="118836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5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2" name="TextBox 28">
            <a:extLst xmlns:a="http://schemas.openxmlformats.org/drawingml/2006/main">
              <a:ext uri="{FF2B5EF4-FFF2-40B4-BE49-F238E27FC236}">
                <a16:creationId xmlns:a16="http://schemas.microsoft.com/office/drawing/2014/main" id="{F57D8B28-BCEE-475A-94A5-E9AD4F71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00" y="2697480"/>
            <a:ext cx="301716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MISSING EVIDENCE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3" name="TextBox 29">
            <a:extLst xmlns:a="http://schemas.openxmlformats.org/drawingml/2006/main">
              <a:ext uri="{FF2B5EF4-FFF2-40B4-BE49-F238E27FC236}">
                <a16:creationId xmlns:a16="http://schemas.microsoft.com/office/drawing/2014/main" id="{8DCA3876-100D-4885-96DF-45951E08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00" y="3520440"/>
            <a:ext cx="30171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Not enough evidence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4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DBD8F794-2A99-4164-8496-D1CAE440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0"/>
            <a:ext cx="6537600" cy="154512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5" name="Picture 31">
            <a:extLst xmlns:a="http://schemas.openxmlformats.org/drawingml/2006/main">
              <a:ext uri="{FF2B5EF4-FFF2-40B4-BE49-F238E27FC236}">
                <a16:creationId xmlns:a16="http://schemas.microsoft.com/office/drawing/2014/main" id="{A363A024-2E62-43C4-89CD-CDB9DAE8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20" y="4526280"/>
            <a:ext cx="6400440" cy="1270800"/>
          </a:xfrm>
          <a:prstGeom xmlns:a="http://schemas.openxmlformats.org/drawingml/2006/main" prst="roundRect">
            <a:avLst>
              <a:gd name="adj" fmla="val 5000"/>
            </a:avLst>
          </a:prstGeom>
          <a:blipFill xmlns:a="http://schemas.openxmlformats.org/drawingml/2006/main">
            <a:blip xmlns:r="http://schemas.openxmlformats.org/officeDocument/2006/relationships" r:embed="Rd37fd9c8308f480d"/>
            <a:srcRect l="78000" t="4000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6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439B29C3-6D9F-471F-8FEA-7E3EBEE7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526280"/>
            <a:ext cx="4416120" cy="127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7" name="TextBox 33">
            <a:extLst xmlns:a="http://schemas.openxmlformats.org/drawingml/2006/main">
              <a:ext uri="{FF2B5EF4-FFF2-40B4-BE49-F238E27FC236}">
                <a16:creationId xmlns:a16="http://schemas.microsoft.com/office/drawing/2014/main" id="{45BEBD44-BA08-41E3-B2D2-0C719441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90800"/>
            <a:ext cx="37944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95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IN WEAVE</a:t>
            </a:r>
            <a:endParaRPr sz="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8" name="TextBox 34">
            <a:extLst xmlns:a="http://schemas.openxmlformats.org/drawingml/2006/main">
              <a:ext uri="{FF2B5EF4-FFF2-40B4-BE49-F238E27FC236}">
                <a16:creationId xmlns:a16="http://schemas.microsoft.com/office/drawing/2014/main" id="{F94CFD3F-10A3-4860-8264-289D84E2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83480"/>
            <a:ext cx="37944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Open the Version 1 results, inspect the wrong-customer case, and choose Make baseline.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9" name="TextBox 35">
            <a:extLst xmlns:a="http://schemas.openxmlformats.org/drawingml/2006/main">
              <a:ext uri="{FF2B5EF4-FFF2-40B4-BE49-F238E27FC236}">
                <a16:creationId xmlns:a16="http://schemas.microsoft.com/office/drawing/2014/main" id="{DD2AC5E7-FA42-4284-A913-51272415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BASELINE — THE RUN WE WILL COMPARE VERSION 2 AGAINST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0" name="TextBox 36">
            <a:extLst xmlns:a="http://schemas.openxmlformats.org/drawingml/2006/main">
              <a:ext uri="{FF2B5EF4-FFF2-40B4-BE49-F238E27FC236}">
                <a16:creationId xmlns:a16="http://schemas.microsoft.com/office/drawing/2014/main" id="{2B17F09E-B2F3-4873-8A64-BEC8454E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16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74609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1" name="TextBox 1">
            <a:extLst xmlns:a="http://schemas.openxmlformats.org/drawingml/2006/main">
              <a:ext uri="{FF2B5EF4-FFF2-40B4-BE49-F238E27FC236}">
                <a16:creationId xmlns:a16="http://schemas.microsoft.com/office/drawing/2014/main" id="{4DED5EA1-8ACF-4A92-B679-A7427970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CHAPTER 4 • IMPROVE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2" name="TextBox 2">
            <a:extLst xmlns:a="http://schemas.openxmlformats.org/drawingml/2006/main">
              <a:ext uri="{FF2B5EF4-FFF2-40B4-BE49-F238E27FC236}">
                <a16:creationId xmlns:a16="http://schemas.microsoft.com/office/drawing/2014/main" id="{DBF01ADB-1346-4DB6-8419-C15E84DB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1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Version 2 checks who owns each ticket</a:t>
            </a:r>
            <a:endParaRPr sz="3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3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713183C-BB03-4028-98E0-1A40AAAE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4" name="TextBox 4">
            <a:extLst xmlns:a="http://schemas.openxmlformats.org/drawingml/2006/main">
              <a:ext uri="{FF2B5EF4-FFF2-40B4-BE49-F238E27FC236}">
                <a16:creationId xmlns:a16="http://schemas.microsoft.com/office/drawing/2014/main" id="{DD5183B3-11B2-4614-930B-370EF39D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RUN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3FBE007-8039-424A-9F81-CF3A75BF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6" name="TextBox 6">
            <a:extLst xmlns:a="http://schemas.openxmlformats.org/drawingml/2006/main">
              <a:ext uri="{FF2B5EF4-FFF2-40B4-BE49-F238E27FC236}">
                <a16:creationId xmlns:a16="http://schemas.microsoft.com/office/drawing/2014/main" id="{A7C4620B-7A4C-4BD4-BB29-172F212D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OBSERVE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7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A4EBF57-AE3E-438D-9898-F6C6F82F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8" name="TextBox 8">
            <a:extLst xmlns:a="http://schemas.openxmlformats.org/drawingml/2006/main">
              <a:ext uri="{FF2B5EF4-FFF2-40B4-BE49-F238E27FC236}">
                <a16:creationId xmlns:a16="http://schemas.microsoft.com/office/drawing/2014/main" id="{9222D960-DB5E-4629-AB2E-97FA7C06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CURATE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9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C1D9931-A05E-4651-A1A1-B8D4C201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F4AC2A-D09C-4C1C-9E83-A4F1A843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EVALUATE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2DCC3F5-3F33-431F-AF68-1A134D0F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C5E6E17-568D-48FC-AF55-AFBA0266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IMPROVE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3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7921F7B-0A05-48FA-8F6C-1E4121C3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4" name="TextBox 14">
            <a:extLst xmlns:a="http://schemas.openxmlformats.org/drawingml/2006/main">
              <a:ext uri="{FF2B5EF4-FFF2-40B4-BE49-F238E27FC236}">
                <a16:creationId xmlns:a16="http://schemas.microsoft.com/office/drawing/2014/main" id="{08C67903-11C0-45F7-8E16-2B2D0764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DECIDE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5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6BE2F27-973E-4036-B6FB-1D2A57F4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94560"/>
            <a:ext cx="4205880" cy="23313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6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1C18FF5-C0EA-4B9E-BC0E-FAA3F1FA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87240"/>
            <a:ext cx="1828440" cy="36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13AFE8E-E98D-4F25-B1B5-FF369FBB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87240"/>
            <a:ext cx="18284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PATCHPILOT V1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34E8FCA-EF03-4A7A-ACC8-83AB0089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3108960"/>
            <a:ext cx="34743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u="none">
                <a:solidFill>
                  <a:srgbClr val="5D6878"/>
                </a:solidFill>
                <a:latin typeface="Courier New"/>
                <a:ea typeface="Courier New"/>
                <a:cs typeface="Courier New"/>
              </a:rPr>
              <a:t>SELECT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9" name="TextBox 19">
            <a:extLst xmlns:a="http://schemas.openxmlformats.org/drawingml/2006/main">
              <a:ext uri="{FF2B5EF4-FFF2-40B4-BE49-F238E27FC236}">
                <a16:creationId xmlns:a16="http://schemas.microsoft.com/office/drawing/2014/main" id="{39107FC7-826C-49D3-A6A1-2789E321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3474720"/>
            <a:ext cx="34743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u="none">
                <a:solidFill>
                  <a:srgbClr val="0B0F16"/>
                </a:solidFill>
                <a:latin typeface="Courier New"/>
                <a:ea typeface="Courier New"/>
                <a:cs typeface="Courier New"/>
              </a:rPr>
              <a:t>tickets by number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41" name="Connector 20"/>
          <p:cNvCxnSpPr/>
          <p:nvPr/>
        </p:nvCxnSpPr>
        <p:spPr>
          <a:xfrm xmlns:a="http://schemas.openxmlformats.org/drawingml/2006/main">
            <a:off x="4754880" y="3355560"/>
            <a:ext cx="2679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E2EF"/>
            </a:solidFill>
            <a:round/>
            <a:tailEnd type="triangle" w="med" len="med"/>
          </a:ln>
        </p:spPr>
      </p:cxnSp>
      <p:sp>
        <p:nvSpPr>
          <p:cNvPr id="631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239CB5B-51B5-477C-A036-3DD1419D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20" y="3154680"/>
            <a:ext cx="2285640" cy="4021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EA4F929-9F43-4A49-A56C-A8806A47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20" y="3154680"/>
            <a:ext cx="228564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950" b="1" u="none" spc="99">
                <a:solidFill>
                  <a:srgbClr val="0E8345"/>
                </a:solidFill>
                <a:latin typeface="Arial"/>
                <a:ea typeface="Arial"/>
                <a:cs typeface="Arial"/>
              </a:rPr>
              <a:t>CHECK TICKET OWNER</a:t>
            </a:r>
            <a:endParaRPr sz="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3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C1852FC3-5250-4ED2-A91B-32E5F033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00" y="2194560"/>
            <a:ext cx="4205880" cy="23313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4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D7F5647-BEF9-425E-9F3E-5F0D7939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040" y="2487240"/>
            <a:ext cx="1828440" cy="36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5" name="TextBox 25">
            <a:extLst xmlns:a="http://schemas.openxmlformats.org/drawingml/2006/main">
              <a:ext uri="{FF2B5EF4-FFF2-40B4-BE49-F238E27FC236}">
                <a16:creationId xmlns:a16="http://schemas.microsoft.com/office/drawing/2014/main" id="{25FE3803-FEFE-49DD-835A-A3A91679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040" y="2487240"/>
            <a:ext cx="18284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PATCHPILOT V2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TextBox 26">
            <a:extLst xmlns:a="http://schemas.openxmlformats.org/drawingml/2006/main">
              <a:ext uri="{FF2B5EF4-FFF2-40B4-BE49-F238E27FC236}">
                <a16:creationId xmlns:a16="http://schemas.microsoft.com/office/drawing/2014/main" id="{E3328BEF-CF1F-438F-9F83-F050C0A6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400" y="3108960"/>
            <a:ext cx="35658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u="none">
                <a:solidFill>
                  <a:srgbClr val="5D6878"/>
                </a:solidFill>
                <a:latin typeface="Courier New"/>
                <a:ea typeface="Courier New"/>
                <a:cs typeface="Courier New"/>
              </a:rPr>
              <a:t>SELECT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TextBox 27">
            <a:extLst xmlns:a="http://schemas.openxmlformats.org/drawingml/2006/main">
              <a:ext uri="{FF2B5EF4-FFF2-40B4-BE49-F238E27FC236}">
                <a16:creationId xmlns:a16="http://schemas.microsoft.com/office/drawing/2014/main" id="{6EE18706-9937-4A50-B843-79CBF794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400" y="3474720"/>
            <a:ext cx="37486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50" b="1" u="none">
                <a:solidFill>
                  <a:srgbClr val="0B0F16"/>
                </a:solidFill>
                <a:latin typeface="Courier New"/>
                <a:ea typeface="Courier New"/>
                <a:cs typeface="Courier New"/>
              </a:rPr>
              <a:t>ticket number + owner</a:t>
            </a:r>
            <a:endParaRPr sz="1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79D30313-A893-4EC3-82BC-33375ED6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0"/>
            <a:ext cx="11091240" cy="68544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9" name="TextBox 29">
            <a:extLst xmlns:a="http://schemas.openxmlformats.org/drawingml/2006/main">
              <a:ext uri="{FF2B5EF4-FFF2-40B4-BE49-F238E27FC236}">
                <a16:creationId xmlns:a16="http://schemas.microsoft.com/office/drawing/2014/main" id="{45EB0F6E-889E-482E-A0CC-C6316B6B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0"/>
            <a:ext cx="1109124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4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One change: close only tickets owned by the customer who made the request.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TextBox 30">
            <a:extLst xmlns:a="http://schemas.openxmlformats.org/drawingml/2006/main">
              <a:ext uri="{FF2B5EF4-FFF2-40B4-BE49-F238E27FC236}">
                <a16:creationId xmlns:a16="http://schemas.microsoft.com/office/drawing/2014/main" id="{6C79EF87-252F-4F89-AACD-E1796C8F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SAME PATCHPILOT WORKFLOW • TWO PREPARED VERSIONS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TextBox 31">
            <a:extLst xmlns:a="http://schemas.openxmlformats.org/drawingml/2006/main">
              <a:ext uri="{FF2B5EF4-FFF2-40B4-BE49-F238E27FC236}">
                <a16:creationId xmlns:a16="http://schemas.microsoft.com/office/drawing/2014/main" id="{34840E1A-A33D-4393-8B2B-13C7A9B7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880" y="6455520"/>
            <a:ext cx="7620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17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51709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2" name="TextBox 1">
            <a:extLst xmlns:a="http://schemas.openxmlformats.org/drawingml/2006/main">
              <a:ext uri="{FF2B5EF4-FFF2-40B4-BE49-F238E27FC236}">
                <a16:creationId xmlns:a16="http://schemas.microsoft.com/office/drawing/2014/main" id="{3962D60D-1F2F-4BCB-B498-984FD9FD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30480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buNone/>
              <a:defRPr sz="1100" b="1">
                <a:solidFill>
                  <a:srgbClr val="2375FF"/>
                </a:solidFill>
                <a:latin typeface="Arial"/>
                <a:ea typeface="Arial"/>
                <a:cs typeface="Arial"/>
              </a:defRPr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CHAPTER 4 • VERSION 2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414EF3-E7DA-470A-930D-835047D5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1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Test Version 2 with the same cases and scorers</a:t>
            </a:r>
            <a:endParaRPr sz="3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DC1C154-7542-48D2-9C3A-9480A034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F4634C-9AF6-46B3-8A8D-E5B13360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RUN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CDEB490-B0D1-4734-8E37-77013FE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7" name="TextBox 6">
            <a:extLst xmlns:a="http://schemas.openxmlformats.org/drawingml/2006/main">
              <a:ext uri="{FF2B5EF4-FFF2-40B4-BE49-F238E27FC236}">
                <a16:creationId xmlns:a16="http://schemas.microsoft.com/office/drawing/2014/main" id="{EE6CB099-B2D2-4ACE-88E9-E5C863AB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OBSERVE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3823343-DE08-4EB3-AEEA-30D4DB50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9" name="TextBox 8">
            <a:extLst xmlns:a="http://schemas.openxmlformats.org/drawingml/2006/main">
              <a:ext uri="{FF2B5EF4-FFF2-40B4-BE49-F238E27FC236}">
                <a16:creationId xmlns:a16="http://schemas.microsoft.com/office/drawing/2014/main" id="{4F3B39B5-60FC-4E76-A429-F608A78D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CURATE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B927084-8B5C-475A-970F-A483A93C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71B19E-15F6-4C23-AA13-DE35C3AA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EVALUATE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A4CB9A9-2A58-481D-ABA4-76AEB43F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DE30743-CB1C-42F2-9DFE-55E5AF20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IMPROVE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12F4577-E761-45BF-A1AD-52CD3796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1DB7A35-FE7B-41AF-8AE1-1D1729B0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DECIDE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2529D88-8F38-4059-99CE-BB11ADFE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94560"/>
            <a:ext cx="3931560" cy="2651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50A1B8A-B22A-4E7E-A122-03DD00DE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87240"/>
            <a:ext cx="2011320" cy="36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F16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6289BC2-CD47-4EB9-8E22-79BBB37E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87240"/>
            <a:ext cx="20113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TEST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5F33E71-0645-4264-AF82-7ACB2794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6120"/>
            <a:ext cx="127800" cy="127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0F16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93D9DAD-2134-4859-8785-7385504D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090600"/>
            <a:ext cx="30171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Dataset + scorers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DDEBBC7-D23C-46B5-AEC1-A27FCE33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3120"/>
            <a:ext cx="127800" cy="127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0F16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C21A9A5-6CB1-4AAD-B56F-FF3B5C35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657600"/>
            <a:ext cx="30171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5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Rubric + judge model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83507B4-91B8-44EB-85C7-1780EE0E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0400"/>
            <a:ext cx="4111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3000" b="1" u="none">
                <a:solidFill>
                  <a:srgbClr val="2375FF"/>
                </a:solidFill>
                <a:latin typeface="Arial"/>
                <a:ea typeface="Arial"/>
                <a:cs typeface="Arial"/>
              </a:rPr>
              <a:t>+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8900809F-60B8-455E-8547-BC70D01A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94560"/>
            <a:ext cx="2834280" cy="2651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59C77B7-A297-44D9-A14E-CBAD87ED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487240"/>
            <a:ext cx="22856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950" b="1" u="none" spc="201">
                <a:solidFill>
                  <a:srgbClr val="BFD6FF"/>
                </a:solidFill>
                <a:latin typeface="Arial"/>
                <a:ea typeface="Arial"/>
                <a:cs typeface="Arial"/>
              </a:rPr>
              <a:t>ONLY CHANGE</a:t>
            </a:r>
            <a:endParaRPr sz="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99146FC-EC5D-4E2D-B083-B6333FCB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834640"/>
            <a:ext cx="228564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PATCHPILOT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5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7716C42-86AA-4084-82D6-3D518140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611880"/>
            <a:ext cx="22856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V1 → V2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8" name="TextBox 27">
            <a:extLst xmlns:a="http://schemas.openxmlformats.org/drawingml/2006/main">
              <a:ext uri="{FF2B5EF4-FFF2-40B4-BE49-F238E27FC236}">
                <a16:creationId xmlns:a16="http://schemas.microsoft.com/office/drawing/2014/main" id="{04B5CD2A-3671-448C-BCD0-538FE8CE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206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50" b="0" u="none">
                <a:solidFill>
                  <a:srgbClr val="DDE9FF"/>
                </a:solidFill>
                <a:latin typeface="Arial"/>
                <a:ea typeface="Arial"/>
                <a:cs typeface="Arial"/>
              </a:rPr>
              <a:t>now checks owner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623CF35-404A-42EB-904A-76AAB5B2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640" y="3200400"/>
            <a:ext cx="4111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3000" b="1" u="none">
                <a:solidFill>
                  <a:srgbClr val="2375FF"/>
                </a:solidFill>
                <a:latin typeface="Arial"/>
                <a:ea typeface="Arial"/>
                <a:cs typeface="Arial"/>
              </a:rPr>
              <a:t>=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D62BF1BF-67A3-466C-866B-B763FD37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560" y="2194560"/>
            <a:ext cx="3154320" cy="2651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834ED65-8829-4830-B437-D9BCA02F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00" y="2487240"/>
            <a:ext cx="25599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95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NEW EVIDENCE</a:t>
            </a:r>
            <a:endParaRPr sz="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2" name="TextBox 31">
            <a:extLst xmlns:a="http://schemas.openxmlformats.org/drawingml/2006/main">
              <a:ext uri="{FF2B5EF4-FFF2-40B4-BE49-F238E27FC236}">
                <a16:creationId xmlns:a16="http://schemas.microsoft.com/office/drawing/2014/main" id="{D6946A44-2CB6-40A9-BF1C-A5C3460D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00" y="2880360"/>
            <a:ext cx="2559960" cy="164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Weave records new runs and scores, so the change can be inspected.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8B58FEB-95DD-403A-B0EB-5EF0FD35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388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50" b="0" i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Exact scorers should repeat. The live judge may vary—read its reasons.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A11EBCC-2485-4679-94CC-22A8DC5E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RUN VERSION 2 • KEEP THE TEST THE SAME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5" name="TextBox 34">
            <a:extLst xmlns:a="http://schemas.openxmlformats.org/drawingml/2006/main">
              <a:ext uri="{FF2B5EF4-FFF2-40B4-BE49-F238E27FC236}">
                <a16:creationId xmlns:a16="http://schemas.microsoft.com/office/drawing/2014/main" id="{73828A7F-CE71-4E07-A32B-FCE70EBE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18 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57158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6" name="TextBox 1">
            <a:extLst xmlns:a="http://schemas.openxmlformats.org/drawingml/2006/main">
              <a:ext uri="{FF2B5EF4-FFF2-40B4-BE49-F238E27FC236}">
                <a16:creationId xmlns:a16="http://schemas.microsoft.com/office/drawing/2014/main" id="{72C6E113-BFF8-4AA5-A77A-3CB87042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WEAVE STOP 4 • COMPARE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7" name="TextBox 2">
            <a:extLst xmlns:a="http://schemas.openxmlformats.org/drawingml/2006/main">
              <a:ext uri="{FF2B5EF4-FFF2-40B4-BE49-F238E27FC236}">
                <a16:creationId xmlns:a16="http://schemas.microsoft.com/office/drawing/2014/main" id="{E1F7A282-6BF0-43F5-9BB6-201F8DD6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1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Compare each case—not just the average</a:t>
            </a:r>
            <a:endParaRPr sz="3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8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32FE8D3-E0E3-4068-9EBB-A1680615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9" name="TextBox 4">
            <a:extLst xmlns:a="http://schemas.openxmlformats.org/drawingml/2006/main">
              <a:ext uri="{FF2B5EF4-FFF2-40B4-BE49-F238E27FC236}">
                <a16:creationId xmlns:a16="http://schemas.microsoft.com/office/drawing/2014/main" id="{2A25A203-7F24-4A3A-946D-AFD80295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RUN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0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04F2C37-74B6-4E69-B342-C2B3A39E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1" name="TextBox 6">
            <a:extLst xmlns:a="http://schemas.openxmlformats.org/drawingml/2006/main">
              <a:ext uri="{FF2B5EF4-FFF2-40B4-BE49-F238E27FC236}">
                <a16:creationId xmlns:a16="http://schemas.microsoft.com/office/drawing/2014/main" id="{CE4A7E56-1AC0-4C3E-8687-0B6D256F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OBSERVE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2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F78023D-51A4-44A7-8895-401A61A7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3" name="TextBox 8">
            <a:extLst xmlns:a="http://schemas.openxmlformats.org/drawingml/2006/main">
              <a:ext uri="{FF2B5EF4-FFF2-40B4-BE49-F238E27FC236}">
                <a16:creationId xmlns:a16="http://schemas.microsoft.com/office/drawing/2014/main" id="{84D0CF3B-B04A-47B1-9151-DB868E61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CURATE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4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2A31A52-AC80-4E44-9ACC-E3251021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5" name="TextBox 10">
            <a:extLst xmlns:a="http://schemas.openxmlformats.org/drawingml/2006/main">
              <a:ext uri="{FF2B5EF4-FFF2-40B4-BE49-F238E27FC236}">
                <a16:creationId xmlns:a16="http://schemas.microsoft.com/office/drawing/2014/main" id="{20347B97-E5E6-4D9C-BACB-A5DCB604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EVALUATE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6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4ACF8E9-3AEB-4056-ACF7-AFD82F8D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7" name="TextBox 12">
            <a:extLst xmlns:a="http://schemas.openxmlformats.org/drawingml/2006/main">
              <a:ext uri="{FF2B5EF4-FFF2-40B4-BE49-F238E27FC236}">
                <a16:creationId xmlns:a16="http://schemas.microsoft.com/office/drawing/2014/main" id="{A8BB464B-D68C-4BF7-8236-B989CA51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IMPROVE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8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F09E178-1E15-4BA2-8E57-A909E57D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9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FBD8E6-943E-4312-A3A7-28802471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0" name="Oval 15">
            <a:extLst xmlns:a="http://schemas.openxmlformats.org/drawingml/2006/main">
              <a:ext uri="{FF2B5EF4-FFF2-40B4-BE49-F238E27FC236}">
                <a16:creationId xmlns:a16="http://schemas.microsoft.com/office/drawing/2014/main" id="{5AC8CB79-2D60-4FE0-9E2F-1E2024AE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02680"/>
            <a:ext cx="402120" cy="40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3EA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1" name="TextBox 16">
            <a:extLst xmlns:a="http://schemas.openxmlformats.org/drawingml/2006/main">
              <a:ext uri="{FF2B5EF4-FFF2-40B4-BE49-F238E27FC236}">
                <a16:creationId xmlns:a16="http://schemas.microsoft.com/office/drawing/2014/main" id="{131744C6-A3AF-4279-9C1F-88E436C2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02680"/>
            <a:ext cx="40212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400" b="1" u="none">
                <a:solidFill>
                  <a:srgbClr val="0E8345"/>
                </a:solidFill>
                <a:latin typeface="Arial"/>
                <a:ea typeface="Arial"/>
                <a:cs typeface="Arial"/>
              </a:rPr>
              <a:t>✓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2" name="TextBox 17">
            <a:extLst xmlns:a="http://schemas.openxmlformats.org/drawingml/2006/main">
              <a:ext uri="{FF2B5EF4-FFF2-40B4-BE49-F238E27FC236}">
                <a16:creationId xmlns:a16="http://schemas.microsoft.com/office/drawing/2014/main" id="{CA1E123F-60A1-4B1A-827E-5D373D2F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874520"/>
            <a:ext cx="2285640" cy="6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NORMAL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3" name="TextBox 18">
            <a:extLst xmlns:a="http://schemas.openxmlformats.org/drawingml/2006/main">
              <a:ext uri="{FF2B5EF4-FFF2-40B4-BE49-F238E27FC236}">
                <a16:creationId xmlns:a16="http://schemas.microsoft.com/office/drawing/2014/main" id="{FBBB6EE0-BB1C-4268-92B5-5E09B371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874520"/>
            <a:ext cx="3108600" cy="6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50" b="1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V1 PASS → V2 PASS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75" name="Connector 19"/>
          <p:cNvCxnSpPr/>
          <p:nvPr/>
        </p:nvCxnSpPr>
        <p:spPr>
          <a:xfrm xmlns:a="http://schemas.openxmlformats.org/drawingml/2006/main">
            <a:off x="1188720" y="2624040"/>
            <a:ext cx="5486760" cy="36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2EF"/>
            </a:solidFill>
            <a:round/>
          </a:ln>
        </p:spPr>
      </p:cxnSp>
      <p:sp>
        <p:nvSpPr>
          <p:cNvPr id="695" name="Oval 20">
            <a:extLst xmlns:a="http://schemas.openxmlformats.org/drawingml/2006/main">
              <a:ext uri="{FF2B5EF4-FFF2-40B4-BE49-F238E27FC236}">
                <a16:creationId xmlns:a16="http://schemas.microsoft.com/office/drawing/2014/main" id="{96CA37BC-F385-49E5-844A-2282DC6C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43640"/>
            <a:ext cx="402120" cy="40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6" name="TextBox 21">
            <a:extLst xmlns:a="http://schemas.openxmlformats.org/drawingml/2006/main">
              <a:ext uri="{FF2B5EF4-FFF2-40B4-BE49-F238E27FC236}">
                <a16:creationId xmlns:a16="http://schemas.microsoft.com/office/drawing/2014/main" id="{85D898AB-52C8-4996-85B6-71EFA2A4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43640"/>
            <a:ext cx="40212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400" b="1" u="none">
                <a:solidFill>
                  <a:srgbClr val="2375FF"/>
                </a:solidFill>
                <a:latin typeface="Arial"/>
                <a:ea typeface="Arial"/>
                <a:cs typeface="Arial"/>
              </a:rPr>
              <a:t>↑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7" name="TextBox 22">
            <a:extLst xmlns:a="http://schemas.openxmlformats.org/drawingml/2006/main">
              <a:ext uri="{FF2B5EF4-FFF2-40B4-BE49-F238E27FC236}">
                <a16:creationId xmlns:a16="http://schemas.microsoft.com/office/drawing/2014/main" id="{4C233AE0-461E-4029-B169-8538C573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15840"/>
            <a:ext cx="2285640" cy="6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MIXED CUSTOMER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8" name="TextBox 23">
            <a:extLst xmlns:a="http://schemas.openxmlformats.org/drawingml/2006/main">
              <a:ext uri="{FF2B5EF4-FFF2-40B4-BE49-F238E27FC236}">
                <a16:creationId xmlns:a16="http://schemas.microsoft.com/office/drawing/2014/main" id="{E49F7A15-8BE2-48DB-A697-00751074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715840"/>
            <a:ext cx="3108600" cy="6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50" b="1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V1 BLOCK → V2 PASS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80" name="Connector 24"/>
          <p:cNvCxnSpPr/>
          <p:nvPr/>
        </p:nvCxnSpPr>
        <p:spPr>
          <a:xfrm xmlns:a="http://schemas.openxmlformats.org/drawingml/2006/main">
            <a:off x="1188720" y="3465360"/>
            <a:ext cx="5486760" cy="36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2EF"/>
            </a:solidFill>
            <a:round/>
          </a:ln>
        </p:spPr>
      </p:cxnSp>
      <p:sp>
        <p:nvSpPr>
          <p:cNvPr id="700" name="Oval 25">
            <a:extLst xmlns:a="http://schemas.openxmlformats.org/drawingml/2006/main">
              <a:ext uri="{FF2B5EF4-FFF2-40B4-BE49-F238E27FC236}">
                <a16:creationId xmlns:a16="http://schemas.microsoft.com/office/drawing/2014/main" id="{2945FB27-1402-4F1D-AF6F-3FB39D91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84960"/>
            <a:ext cx="402120" cy="40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3EA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1" name="TextBox 26">
            <a:extLst xmlns:a="http://schemas.openxmlformats.org/drawingml/2006/main">
              <a:ext uri="{FF2B5EF4-FFF2-40B4-BE49-F238E27FC236}">
                <a16:creationId xmlns:a16="http://schemas.microsoft.com/office/drawing/2014/main" id="{29E76C84-E2FD-4AC9-AB26-458B756E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84960"/>
            <a:ext cx="40212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400" b="1" u="none">
                <a:solidFill>
                  <a:srgbClr val="0E8345"/>
                </a:solidFill>
                <a:latin typeface="Arial"/>
                <a:ea typeface="Arial"/>
                <a:cs typeface="Arial"/>
              </a:rPr>
              <a:t>✓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2" name="TextBox 27">
            <a:extLst xmlns:a="http://schemas.openxmlformats.org/drawingml/2006/main">
              <a:ext uri="{FF2B5EF4-FFF2-40B4-BE49-F238E27FC236}">
                <a16:creationId xmlns:a16="http://schemas.microsoft.com/office/drawing/2014/main" id="{D79EDFB0-0DEA-4C10-A378-42CE89F3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57160"/>
            <a:ext cx="2285640" cy="6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RETRY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3" name="TextBox 28">
            <a:extLst xmlns:a="http://schemas.openxmlformats.org/drawingml/2006/main">
              <a:ext uri="{FF2B5EF4-FFF2-40B4-BE49-F238E27FC236}">
                <a16:creationId xmlns:a16="http://schemas.microsoft.com/office/drawing/2014/main" id="{27D3F018-0D9C-4AF6-BDE7-B14F1643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557160"/>
            <a:ext cx="3108600" cy="6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50" b="1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V1 PASS → V2 PASS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85" name="Connector 29"/>
          <p:cNvCxnSpPr/>
          <p:nvPr/>
        </p:nvCxnSpPr>
        <p:spPr>
          <a:xfrm xmlns:a="http://schemas.openxmlformats.org/drawingml/2006/main">
            <a:off x="1188720" y="4306680"/>
            <a:ext cx="5486760" cy="36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2EF"/>
            </a:solidFill>
            <a:round/>
          </a:ln>
        </p:spPr>
      </p:cxnSp>
      <p:sp>
        <p:nvSpPr>
          <p:cNvPr id="705" name="Oval 30">
            <a:extLst xmlns:a="http://schemas.openxmlformats.org/drawingml/2006/main">
              <a:ext uri="{FF2B5EF4-FFF2-40B4-BE49-F238E27FC236}">
                <a16:creationId xmlns:a16="http://schemas.microsoft.com/office/drawing/2014/main" id="{CE1E3FA8-1A20-4F17-A8BF-53E2D23C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26280"/>
            <a:ext cx="402120" cy="40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6" name="TextBox 31">
            <a:extLst xmlns:a="http://schemas.openxmlformats.org/drawingml/2006/main">
              <a:ext uri="{FF2B5EF4-FFF2-40B4-BE49-F238E27FC236}">
                <a16:creationId xmlns:a16="http://schemas.microsoft.com/office/drawing/2014/main" id="{947DFA4B-8154-4649-8E50-9E970365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26280"/>
            <a:ext cx="40212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400" b="1" u="none">
                <a:solidFill>
                  <a:srgbClr val="8A5B00"/>
                </a:solidFill>
                <a:latin typeface="Arial"/>
                <a:ea typeface="Arial"/>
                <a:cs typeface="Arial"/>
              </a:rPr>
              <a:t>—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7" name="TextBox 32">
            <a:extLst xmlns:a="http://schemas.openxmlformats.org/drawingml/2006/main">
              <a:ext uri="{FF2B5EF4-FFF2-40B4-BE49-F238E27FC236}">
                <a16:creationId xmlns:a16="http://schemas.microsoft.com/office/drawing/2014/main" id="{1C657E0F-7F2D-4E0A-9A9C-6200F717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398120"/>
            <a:ext cx="2285640" cy="6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MISSING EVIDENCE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8" name="TextBox 33">
            <a:extLst xmlns:a="http://schemas.openxmlformats.org/drawingml/2006/main">
              <a:ext uri="{FF2B5EF4-FFF2-40B4-BE49-F238E27FC236}">
                <a16:creationId xmlns:a16="http://schemas.microsoft.com/office/drawing/2014/main" id="{99D658FE-E535-404D-B48C-50A787C5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398120"/>
            <a:ext cx="3108600" cy="6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50" b="1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V1 REVIEW → V2 REVIEW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90" name="Connector 34"/>
          <p:cNvCxnSpPr/>
          <p:nvPr/>
        </p:nvCxnSpPr>
        <p:spPr>
          <a:xfrm xmlns:a="http://schemas.openxmlformats.org/drawingml/2006/main">
            <a:off x="1188720" y="5148000"/>
            <a:ext cx="5486760" cy="36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2EF"/>
            </a:solidFill>
            <a:round/>
          </a:ln>
        </p:spPr>
      </p:cxnSp>
      <p:sp>
        <p:nvSpPr>
          <p:cNvPr id="710" name="Oval 35">
            <a:extLst xmlns:a="http://schemas.openxmlformats.org/drawingml/2006/main">
              <a:ext uri="{FF2B5EF4-FFF2-40B4-BE49-F238E27FC236}">
                <a16:creationId xmlns:a16="http://schemas.microsoft.com/office/drawing/2014/main" id="{336CD8F3-AFE5-4C92-A15A-C27227AE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67600"/>
            <a:ext cx="402120" cy="40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5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1" name="TextBox 36">
            <a:extLst xmlns:a="http://schemas.openxmlformats.org/drawingml/2006/main">
              <a:ext uri="{FF2B5EF4-FFF2-40B4-BE49-F238E27FC236}">
                <a16:creationId xmlns:a16="http://schemas.microsoft.com/office/drawing/2014/main" id="{09460E33-640F-4FF2-8343-1D2CA5A6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67600"/>
            <a:ext cx="40212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2" name="TextBox 37">
            <a:extLst xmlns:a="http://schemas.openxmlformats.org/drawingml/2006/main">
              <a:ext uri="{FF2B5EF4-FFF2-40B4-BE49-F238E27FC236}">
                <a16:creationId xmlns:a16="http://schemas.microsoft.com/office/drawing/2014/main" id="{3A3AA461-81A6-40EC-9BC2-116AF2C8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39440"/>
            <a:ext cx="2285640" cy="6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LLM JUDGE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3" name="TextBox 38">
            <a:extLst xmlns:a="http://schemas.openxmlformats.org/drawingml/2006/main">
              <a:ext uri="{FF2B5EF4-FFF2-40B4-BE49-F238E27FC236}">
                <a16:creationId xmlns:a16="http://schemas.microsoft.com/office/drawing/2014/main" id="{02742979-8C50-4FFD-882E-CDDFC999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239440"/>
            <a:ext cx="3108600" cy="6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50" b="0" i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Judge answer may vary—read the reason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4" name="Picture 39">
            <a:extLst xmlns:a="http://schemas.openxmlformats.org/drawingml/2006/main">
              <a:ext uri="{FF2B5EF4-FFF2-40B4-BE49-F238E27FC236}">
                <a16:creationId xmlns:a16="http://schemas.microsoft.com/office/drawing/2014/main" id="{C98D5B32-5FC0-4A31-B2A1-F8B98702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965960"/>
            <a:ext cx="4736160" cy="2340360"/>
          </a:xfrm>
          <a:prstGeom xmlns:a="http://schemas.openxmlformats.org/drawingml/2006/main" prst="roundRect">
            <a:avLst>
              <a:gd name="adj" fmla="val 5000"/>
            </a:avLst>
          </a:prstGeom>
          <a:blipFill xmlns:a="http://schemas.openxmlformats.org/drawingml/2006/main" rotWithShape="0">
            <a:blip xmlns:r="http://schemas.openxmlformats.org/officeDocument/2006/relationships" r:embed="R6e7dace9596f455b"/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5" name="TextBox 40">
            <a:extLst xmlns:a="http://schemas.openxmlformats.org/drawingml/2006/main">
              <a:ext uri="{FF2B5EF4-FFF2-40B4-BE49-F238E27FC236}">
                <a16:creationId xmlns:a16="http://schemas.microsoft.com/office/drawing/2014/main" id="{824F1B8E-D77C-452F-9542-D177B8B4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389120"/>
            <a:ext cx="4736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950" b="0" i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Workshop-owned screenshot • the live Weave comparison view</a:t>
            </a:r>
            <a:endParaRPr sz="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6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75DF9E68-582E-412B-8CC4-7BFB8832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92040"/>
            <a:ext cx="4736160" cy="109692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7" name="TextBox 42">
            <a:extLst xmlns:a="http://schemas.openxmlformats.org/drawingml/2006/main">
              <a:ext uri="{FF2B5EF4-FFF2-40B4-BE49-F238E27FC236}">
                <a16:creationId xmlns:a16="http://schemas.microsoft.com/office/drawing/2014/main" id="{BE815569-E163-4542-AA38-9A638D1E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5001840"/>
            <a:ext cx="41144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95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READ IT LIKE THIS</a:t>
            </a:r>
            <a:endParaRPr sz="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8" name="TextBox 43">
            <a:extLst xmlns:a="http://schemas.openxmlformats.org/drawingml/2006/main">
              <a:ext uri="{FF2B5EF4-FFF2-40B4-BE49-F238E27FC236}">
                <a16:creationId xmlns:a16="http://schemas.microsoft.com/office/drawing/2014/main" id="{59DB58E0-B6B6-4D63-9A6E-9F7E42B5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5285160"/>
            <a:ext cx="41144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The mixed-customer case moved from block to pass—and the other cases did not get worse.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9" name="TextBox 44">
            <a:extLst xmlns:a="http://schemas.openxmlformats.org/drawingml/2006/main">
              <a:ext uri="{FF2B5EF4-FFF2-40B4-BE49-F238E27FC236}">
                <a16:creationId xmlns:a16="http://schemas.microsoft.com/office/drawing/2014/main" id="{E010EB14-34F1-4D0B-AA7B-E7126CA8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V1 IS THE BASELINE • V2 IS THE NEW VERSION • READ EACH CASE, NOT ONLY THE AVERAGE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0" name="TextBox 45">
            <a:extLst xmlns:a="http://schemas.openxmlformats.org/drawingml/2006/main">
              <a:ext uri="{FF2B5EF4-FFF2-40B4-BE49-F238E27FC236}">
                <a16:creationId xmlns:a16="http://schemas.microsoft.com/office/drawing/2014/main" id="{609D9821-01DA-450B-888F-656A244E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19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00484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1" name="TextBox 1">
            <a:extLst xmlns:a="http://schemas.openxmlformats.org/drawingml/2006/main">
              <a:ext uri="{FF2B5EF4-FFF2-40B4-BE49-F238E27FC236}">
                <a16:creationId xmlns:a16="http://schemas.microsoft.com/office/drawing/2014/main" id="{9A8F8133-FB76-460A-A0B6-5FCCA084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CHAPTER 5 • HUMAN IN THE LOOP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2" name="TextBox 2">
            <a:extLst xmlns:a="http://schemas.openxmlformats.org/drawingml/2006/main">
              <a:ext uri="{FF2B5EF4-FFF2-40B4-BE49-F238E27FC236}">
                <a16:creationId xmlns:a16="http://schemas.microsoft.com/office/drawing/2014/main" id="{57E9049C-C7BC-46B7-933D-7F23601E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1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Decide when the agent acts—and when a person steps in</a:t>
            </a:r>
            <a:endParaRPr sz="3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3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4385513-E94E-4ED5-B6F2-82B33A6B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4" name="TextBox 4">
            <a:extLst xmlns:a="http://schemas.openxmlformats.org/drawingml/2006/main">
              <a:ext uri="{FF2B5EF4-FFF2-40B4-BE49-F238E27FC236}">
                <a16:creationId xmlns:a16="http://schemas.microsoft.com/office/drawing/2014/main" id="{0EAF591B-A37B-40DC-9C94-D0913FD9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RUN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F28833F-4AAE-4049-9054-97EF015A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6" name="TextBox 6">
            <a:extLst xmlns:a="http://schemas.openxmlformats.org/drawingml/2006/main">
              <a:ext uri="{FF2B5EF4-FFF2-40B4-BE49-F238E27FC236}">
                <a16:creationId xmlns:a16="http://schemas.microsoft.com/office/drawing/2014/main" id="{EB0F840D-E8DA-4FAB-9220-7C588FA5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OBSERVE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7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CACCE0E-53AD-4A86-9AE7-1D5B92D3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8" name="TextBox 8">
            <a:extLst xmlns:a="http://schemas.openxmlformats.org/drawingml/2006/main">
              <a:ext uri="{FF2B5EF4-FFF2-40B4-BE49-F238E27FC236}">
                <a16:creationId xmlns:a16="http://schemas.microsoft.com/office/drawing/2014/main" id="{A2776B09-C0B7-4526-9A4D-E0702E4B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CURATE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9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E28B59B-67FE-4D66-BEC3-429CBBCD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AF4146B-7734-4F15-8959-120B93A6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EVALUATE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FE2D758-6CD8-40D5-953B-BFECADFD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2" name="TextBox 12">
            <a:extLst xmlns:a="http://schemas.openxmlformats.org/drawingml/2006/main">
              <a:ext uri="{FF2B5EF4-FFF2-40B4-BE49-F238E27FC236}">
                <a16:creationId xmlns:a16="http://schemas.microsoft.com/office/drawing/2014/main" id="{65F6C394-A936-4D96-8A27-4A8DC846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IMPROVE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3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496AFE1-880D-4D39-BA5B-E1DFC421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2CAFA64-A3B8-4AC3-B438-1A3E0A0F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5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8E442DE-1B41-4E81-8307-8B6DA72E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3565800" cy="30171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6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37CC4FF-FEE0-4922-9F51-B4280BEF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12920"/>
            <a:ext cx="1599840" cy="383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345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7" name="TextBox 17">
            <a:extLst xmlns:a="http://schemas.openxmlformats.org/drawingml/2006/main">
              <a:ext uri="{FF2B5EF4-FFF2-40B4-BE49-F238E27FC236}">
                <a16:creationId xmlns:a16="http://schemas.microsoft.com/office/drawing/2014/main" id="{1DA2D216-84A5-4D48-939D-0EBE23E3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12920"/>
            <a:ext cx="159984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5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AUTOMATIC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6A2AA09-B753-46E9-84C9-994EAAE3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34640"/>
            <a:ext cx="30171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1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CLEAR CASE</a:t>
            </a:r>
            <a:endParaRPr sz="2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9" name="TextBox 19">
            <a:extLst xmlns:a="http://schemas.openxmlformats.org/drawingml/2006/main">
              <a:ext uri="{FF2B5EF4-FFF2-40B4-BE49-F238E27FC236}">
                <a16:creationId xmlns:a16="http://schemas.microsoft.com/office/drawing/2014/main" id="{33037DB8-26A4-40DD-B7D4-0836268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10200"/>
            <a:ext cx="301716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enough evidence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0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6AB5EF6-74A0-4F62-A071-DDDDD1D5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60520"/>
            <a:ext cx="2102760" cy="4021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D43F462-ED8E-4D98-A68B-E0F95E4E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60520"/>
            <a:ext cx="21027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0E8345"/>
                </a:solidFill>
                <a:latin typeface="Arial"/>
                <a:ea typeface="Arial"/>
                <a:cs typeface="Arial"/>
              </a:rPr>
              <a:t>PROCEED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2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23360791-CED4-435F-A113-1698896A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360" y="1920240"/>
            <a:ext cx="3565800" cy="30171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3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8EDF5BC3-619D-4C5D-A13B-2C5BA7AF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680" y="2212920"/>
            <a:ext cx="1599840" cy="383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5B00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4" name="TextBox 24">
            <a:extLst xmlns:a="http://schemas.openxmlformats.org/drawingml/2006/main">
              <a:ext uri="{FF2B5EF4-FFF2-40B4-BE49-F238E27FC236}">
                <a16:creationId xmlns:a16="http://schemas.microsoft.com/office/drawing/2014/main" id="{C4B92C50-B457-4FA3-8BAE-F760AB1E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680" y="2212920"/>
            <a:ext cx="159984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5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5" name="TextBox 25">
            <a:extLst xmlns:a="http://schemas.openxmlformats.org/drawingml/2006/main">
              <a:ext uri="{FF2B5EF4-FFF2-40B4-BE49-F238E27FC236}">
                <a16:creationId xmlns:a16="http://schemas.microsoft.com/office/drawing/2014/main" id="{771A39B1-3B92-4A98-B387-8500409B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680" y="2834640"/>
            <a:ext cx="30171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1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UNCERTAIN</a:t>
            </a:r>
            <a:endParaRPr sz="2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6" name="TextBox 26">
            <a:extLst xmlns:a="http://schemas.openxmlformats.org/drawingml/2006/main">
              <a:ext uri="{FF2B5EF4-FFF2-40B4-BE49-F238E27FC236}">
                <a16:creationId xmlns:a16="http://schemas.microsoft.com/office/drawing/2014/main" id="{7E4F19A6-82DE-43C0-AC9D-FDF1F4E2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680" y="3310200"/>
            <a:ext cx="301716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missing evidence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7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3EDB38D7-C3DF-4A42-B2FA-11FE5E4D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680" y="4160520"/>
            <a:ext cx="2102760" cy="4021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8" name="TextBox 28">
            <a:extLst xmlns:a="http://schemas.openxmlformats.org/drawingml/2006/main">
              <a:ext uri="{FF2B5EF4-FFF2-40B4-BE49-F238E27FC236}">
                <a16:creationId xmlns:a16="http://schemas.microsoft.com/office/drawing/2014/main" id="{AD15EB64-26AA-4540-BA24-863F0DAB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680" y="4160520"/>
            <a:ext cx="21027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8A5B00"/>
                </a:solidFill>
                <a:latin typeface="Arial"/>
                <a:ea typeface="Arial"/>
                <a:cs typeface="Arial"/>
              </a:rPr>
              <a:t>PERSON APPROVES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9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10EDAFA0-C65B-4E8A-8B00-4D74840E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80" y="1920240"/>
            <a:ext cx="3565800" cy="30171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BE9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0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921E8C89-257E-409D-8CA4-FA0291FF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00" y="2212920"/>
            <a:ext cx="1599840" cy="383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2E4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1" name="TextBox 31">
            <a:extLst xmlns:a="http://schemas.openxmlformats.org/drawingml/2006/main">
              <a:ext uri="{FF2B5EF4-FFF2-40B4-BE49-F238E27FC236}">
                <a16:creationId xmlns:a16="http://schemas.microsoft.com/office/drawing/2014/main" id="{6006ACB5-7CDD-474B-96F3-C4E93692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00" y="2212920"/>
            <a:ext cx="159984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5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2" name="TextBox 32">
            <a:extLst xmlns:a="http://schemas.openxmlformats.org/drawingml/2006/main">
              <a:ext uri="{FF2B5EF4-FFF2-40B4-BE49-F238E27FC236}">
                <a16:creationId xmlns:a16="http://schemas.microsoft.com/office/drawing/2014/main" id="{77D49E3A-4085-4EB5-AFF7-E66E3EF4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00" y="2834640"/>
            <a:ext cx="30171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1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UNSAFE</a:t>
            </a:r>
            <a:endParaRPr sz="2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3" name="TextBox 33">
            <a:extLst xmlns:a="http://schemas.openxmlformats.org/drawingml/2006/main">
              <a:ext uri="{FF2B5EF4-FFF2-40B4-BE49-F238E27FC236}">
                <a16:creationId xmlns:a16="http://schemas.microsoft.com/office/drawing/2014/main" id="{A32CFC67-DD09-4774-B113-605707C8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00" y="3310200"/>
            <a:ext cx="301716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another customer’s data at risk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4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F9F7ABCA-270F-4266-A5EC-C62177BA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00" y="4160520"/>
            <a:ext cx="2102760" cy="4021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5" name="TextBox 35">
            <a:extLst xmlns:a="http://schemas.openxmlformats.org/drawingml/2006/main">
              <a:ext uri="{FF2B5EF4-FFF2-40B4-BE49-F238E27FC236}">
                <a16:creationId xmlns:a16="http://schemas.microsoft.com/office/drawing/2014/main" id="{54EC4571-3C78-4F4E-8D1C-933D466B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00" y="4160520"/>
            <a:ext cx="21027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C82E4D"/>
                </a:solidFill>
                <a:latin typeface="Arial"/>
                <a:ea typeface="Arial"/>
                <a:cs typeface="Arial"/>
              </a:rPr>
              <a:t>STOP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6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7FF7A10E-C369-4128-ACCE-FBC78E65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0"/>
            <a:ext cx="11091240" cy="68544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7" name="TextBox 37">
            <a:extLst xmlns:a="http://schemas.openxmlformats.org/drawingml/2006/main">
              <a:ext uri="{FF2B5EF4-FFF2-40B4-BE49-F238E27FC236}">
                <a16:creationId xmlns:a16="http://schemas.microsoft.com/office/drawing/2014/main" id="{BDAC9942-F83E-4B74-9C16-AA64F8EB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0"/>
            <a:ext cx="1109124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250" b="1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Automatic when the case is clear • Human review when evidence is missing • Block when a safety rule fails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8" name="TextBox 38">
            <a:extLst xmlns:a="http://schemas.openxmlformats.org/drawingml/2006/main">
              <a:ext uri="{FF2B5EF4-FFF2-40B4-BE49-F238E27FC236}">
                <a16:creationId xmlns:a16="http://schemas.microsoft.com/office/drawing/2014/main" id="{F04C3F9A-08D8-4E70-ACF7-AC78A58C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HUMAN IN THE LOOP — A RULE FOR WHEN A PERSON MUST REVIEW BEFORE ACTION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5F63729-B70B-4B20-A321-775CFFF2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520"/>
            <a:ext cx="57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20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866603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0" name="TextBox 1">
            <a:extLst xmlns:a="http://schemas.openxmlformats.org/drawingml/2006/main">
              <a:ext uri="{FF2B5EF4-FFF2-40B4-BE49-F238E27FC236}">
                <a16:creationId xmlns:a16="http://schemas.microsoft.com/office/drawing/2014/main" id="{00EF528B-DF2C-4026-9765-D61A31AA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851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CLOSE • THE AGENT LOOP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1" name="TextBox 2">
            <a:extLst xmlns:a="http://schemas.openxmlformats.org/drawingml/2006/main">
              <a:ext uri="{FF2B5EF4-FFF2-40B4-BE49-F238E27FC236}">
                <a16:creationId xmlns:a16="http://schemas.microsoft.com/office/drawing/2014/main" id="{6A3379B8-9D9A-4AC1-8F7E-13898178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00"/>
            <a:ext cx="11091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31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Use the Agent Loop to turn a change into a decision</a:t>
            </a:r>
            <a:endParaRPr sz="3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2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E94BD56-E24B-4C7D-A7F0-E6163731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3" name="TextBox 4">
            <a:extLst xmlns:a="http://schemas.openxmlformats.org/drawingml/2006/main">
              <a:ext uri="{FF2B5EF4-FFF2-40B4-BE49-F238E27FC236}">
                <a16:creationId xmlns:a16="http://schemas.microsoft.com/office/drawing/2014/main" id="{C10DF72E-BAD0-451A-8197-18D37F01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RUN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476F030-E9AF-4A05-B118-25B2764C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5" name="TextBox 6">
            <a:extLst xmlns:a="http://schemas.openxmlformats.org/drawingml/2006/main">
              <a:ext uri="{FF2B5EF4-FFF2-40B4-BE49-F238E27FC236}">
                <a16:creationId xmlns:a16="http://schemas.microsoft.com/office/drawing/2014/main" id="{2445F662-C557-4E22-9E3C-1EA2033A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6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7BDA02E-E14A-41CE-914F-876C9A25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7" name="TextBox 8">
            <a:extLst xmlns:a="http://schemas.openxmlformats.org/drawingml/2006/main">
              <a:ext uri="{FF2B5EF4-FFF2-40B4-BE49-F238E27FC236}">
                <a16:creationId xmlns:a16="http://schemas.microsoft.com/office/drawing/2014/main" id="{9AB201BD-5FEA-4126-ADDC-806A26B6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CURATE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8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D97B5DA-35A8-4C65-8072-245E9B1E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9" name="TextBox 10">
            <a:extLst xmlns:a="http://schemas.openxmlformats.org/drawingml/2006/main">
              <a:ext uri="{FF2B5EF4-FFF2-40B4-BE49-F238E27FC236}">
                <a16:creationId xmlns:a16="http://schemas.microsoft.com/office/drawing/2014/main" id="{4E9946CB-934E-4AB9-B4A7-7B97BE36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0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6EABFC6-C4D1-4E8C-8B0A-62622EF5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1" name="TextBox 12">
            <a:extLst xmlns:a="http://schemas.openxmlformats.org/drawingml/2006/main">
              <a:ext uri="{FF2B5EF4-FFF2-40B4-BE49-F238E27FC236}">
                <a16:creationId xmlns:a16="http://schemas.microsoft.com/office/drawing/2014/main" id="{9E8CC968-2EC3-4B9F-8F8C-33F8D33B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IMPROVE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2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EABBDB0-A289-46BA-8FC6-FBE65382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FF"/>
          </a:solidFill>
          <a:ln xmlns:a="http://schemas.openxmlformats.org/drawingml/2006/main">
            <a:solidFill>
              <a:srgbClr val="2375F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3" name="TextBox 14">
            <a:extLst xmlns:a="http://schemas.openxmlformats.org/drawingml/2006/main">
              <a:ext uri="{FF2B5EF4-FFF2-40B4-BE49-F238E27FC236}">
                <a16:creationId xmlns:a16="http://schemas.microsoft.com/office/drawing/2014/main" id="{17A9A434-4521-4206-93F2-ACD27B1C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7200"/>
            <a:ext cx="8499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700" b="1" u="none" spc="99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DECIDE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4" name="TextBox 15">
            <a:extLst xmlns:a="http://schemas.openxmlformats.org/drawingml/2006/main">
              <a:ext uri="{FF2B5EF4-FFF2-40B4-BE49-F238E27FC236}">
                <a16:creationId xmlns:a16="http://schemas.microsoft.com/office/drawing/2014/main" id="{28A950D6-BC73-4C81-B4BB-8F69913A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41144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050" b="1" u="none" spc="201">
                <a:solidFill>
                  <a:srgbClr val="2375FF"/>
                </a:solidFill>
                <a:latin typeface="Arial"/>
                <a:ea typeface="Arial"/>
                <a:cs typeface="Arial"/>
              </a:rPr>
              <a:t>WHAT TO TAKE HOME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5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961E028-09B0-40C9-B08C-825E8E23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6674760" cy="9597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6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9B4AFE8-8C72-4741-833A-363A497F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23600"/>
            <a:ext cx="1371240" cy="383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7" name="TextBox 18">
            <a:extLst xmlns:a="http://schemas.openxmlformats.org/drawingml/2006/main">
              <a:ext uri="{FF2B5EF4-FFF2-40B4-BE49-F238E27FC236}">
                <a16:creationId xmlns:a16="http://schemas.microsoft.com/office/drawing/2014/main" id="{7F950FBD-8C33-4B2A-A8B0-5DD8A9AF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23600"/>
            <a:ext cx="137124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2375FF"/>
                </a:solidFill>
                <a:latin typeface="Arial"/>
                <a:ea typeface="Arial"/>
                <a:cs typeface="Arial"/>
              </a:rPr>
              <a:t>TRACE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8" name="TextBox 19">
            <a:extLst xmlns:a="http://schemas.openxmlformats.org/drawingml/2006/main">
              <a:ext uri="{FF2B5EF4-FFF2-40B4-BE49-F238E27FC236}">
                <a16:creationId xmlns:a16="http://schemas.microsoft.com/office/drawing/2014/main" id="{A3FECFE7-4D6F-4FF6-9B95-4FFE59D0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40280"/>
            <a:ext cx="105120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7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See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9" name="TextBox 20">
            <a:extLst xmlns:a="http://schemas.openxmlformats.org/drawingml/2006/main">
              <a:ext uri="{FF2B5EF4-FFF2-40B4-BE49-F238E27FC236}">
                <a16:creationId xmlns:a16="http://schemas.microsoft.com/office/drawing/2014/main" id="{E2E86167-EF0B-4A87-8103-871A362D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240280"/>
            <a:ext cx="347436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What happened in one run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0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77FADB26-45B6-4335-9E36-855E6257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6674760" cy="9597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1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ADD66C76-0C1E-4895-A0E8-81E58D94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66600"/>
            <a:ext cx="1371240" cy="383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2" name="TextBox 23">
            <a:extLst xmlns:a="http://schemas.openxmlformats.org/drawingml/2006/main">
              <a:ext uri="{FF2B5EF4-FFF2-40B4-BE49-F238E27FC236}">
                <a16:creationId xmlns:a16="http://schemas.microsoft.com/office/drawing/2014/main" id="{0E6956DC-94D0-4068-B434-F31D64C1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66600"/>
            <a:ext cx="137124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2375FF"/>
                </a:solidFill>
                <a:latin typeface="Arial"/>
                <a:ea typeface="Arial"/>
                <a:cs typeface="Arial"/>
              </a:rPr>
              <a:t>EVALUATE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3" name="TextBox 24">
            <a:extLst xmlns:a="http://schemas.openxmlformats.org/drawingml/2006/main">
              <a:ext uri="{FF2B5EF4-FFF2-40B4-BE49-F238E27FC236}">
                <a16:creationId xmlns:a16="http://schemas.microsoft.com/office/drawing/2014/main" id="{1CBE0096-9C2F-4198-8AA9-AE71EA0A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83280"/>
            <a:ext cx="105120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7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Test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4" name="TextBox 25">
            <a:extLst xmlns:a="http://schemas.openxmlformats.org/drawingml/2006/main">
              <a:ext uri="{FF2B5EF4-FFF2-40B4-BE49-F238E27FC236}">
                <a16:creationId xmlns:a16="http://schemas.microsoft.com/office/drawing/2014/main" id="{69936B40-139B-4E88-9202-0C975A9F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383280"/>
            <a:ext cx="347436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The same cases every time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5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F20DDAD3-19B8-4FFB-B08B-1DBBE3DF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26280"/>
            <a:ext cx="6674760" cy="95976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6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98977B2B-21AD-4E88-91ED-7D3CB31B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09600"/>
            <a:ext cx="1371240" cy="383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7" name="TextBox 28">
            <a:extLst xmlns:a="http://schemas.openxmlformats.org/drawingml/2006/main">
              <a:ext uri="{FF2B5EF4-FFF2-40B4-BE49-F238E27FC236}">
                <a16:creationId xmlns:a16="http://schemas.microsoft.com/office/drawing/2014/main" id="{6C1B78E3-229A-436A-993F-C1A75CE2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09600"/>
            <a:ext cx="137124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000" b="1" u="none" spc="99">
                <a:solidFill>
                  <a:srgbClr val="2375FF"/>
                </a:solidFill>
                <a:latin typeface="Arial"/>
                <a:ea typeface="Arial"/>
                <a:cs typeface="Arial"/>
              </a:rPr>
              <a:t>COMPARE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8" name="TextBox 29">
            <a:extLst xmlns:a="http://schemas.openxmlformats.org/drawingml/2006/main">
              <a:ext uri="{FF2B5EF4-FFF2-40B4-BE49-F238E27FC236}">
                <a16:creationId xmlns:a16="http://schemas.microsoft.com/office/drawing/2014/main" id="{DD8A6600-06F4-43FA-B256-B640F729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26280"/>
            <a:ext cx="105120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7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Decide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9" name="TextBox 30">
            <a:extLst xmlns:a="http://schemas.openxmlformats.org/drawingml/2006/main">
              <a:ext uri="{FF2B5EF4-FFF2-40B4-BE49-F238E27FC236}">
                <a16:creationId xmlns:a16="http://schemas.microsoft.com/office/drawing/2014/main" id="{39A019CC-DE3E-4DB6-90D6-EF24EB75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526280"/>
            <a:ext cx="347436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50" b="0" u="none">
                <a:solidFill>
                  <a:srgbClr val="2A3340"/>
                </a:solidFill>
                <a:latin typeface="Arial"/>
                <a:ea typeface="Arial"/>
                <a:cs typeface="Arial"/>
              </a:rPr>
              <a:t>Whether the change actually helped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0" name="Picture 31">
            <a:extLst xmlns:a="http://schemas.openxmlformats.org/drawingml/2006/main">
              <a:ext uri="{FF2B5EF4-FFF2-40B4-BE49-F238E27FC236}">
                <a16:creationId xmlns:a16="http://schemas.microsoft.com/office/drawing/2014/main" id="{D88EB375-099C-4048-9E77-1739E37C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40280"/>
            <a:ext cx="4096080" cy="2148480"/>
          </a:xfrm>
          <a:prstGeom xmlns:a="http://schemas.openxmlformats.org/drawingml/2006/main" prst="roundRect">
            <a:avLst>
              <a:gd name="adj" fmla="val 5000"/>
            </a:avLst>
          </a:prstGeom>
          <a:blipFill xmlns:a="http://schemas.openxmlformats.org/drawingml/2006/main" rotWithShape="0">
            <a:blip xmlns:r="http://schemas.openxmlformats.org/officeDocument/2006/relationships" r:embed="R1ef86fc67e2a4e85"/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1" name="TextBox 32">
            <a:extLst xmlns:a="http://schemas.openxmlformats.org/drawingml/2006/main">
              <a:ext uri="{FF2B5EF4-FFF2-40B4-BE49-F238E27FC236}">
                <a16:creationId xmlns:a16="http://schemas.microsoft.com/office/drawing/2014/main" id="{69379134-7E94-44C5-80C4-CA68144E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72000"/>
            <a:ext cx="40960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1" u="none">
                <a:solidFill>
                  <a:srgbClr val="0B0F16"/>
                </a:solidFill>
                <a:latin typeface="Arial"/>
                <a:ea typeface="Arial"/>
                <a:cs typeface="Arial"/>
              </a:rPr>
              <a:t>Fully Connected 2026 • Built for AI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2" name="TextBox 33">
            <a:extLst xmlns:a="http://schemas.openxmlformats.org/drawingml/2006/main">
              <a:ext uri="{FF2B5EF4-FFF2-40B4-BE49-F238E27FC236}">
                <a16:creationId xmlns:a16="http://schemas.microsoft.com/office/drawing/2014/main" id="{5EA35D81-70AD-4CC0-858F-762534B9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37760"/>
            <a:ext cx="40960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Moscone South, San Francisco • September 29–October 1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3" name="TextBox 34">
            <a:extLst xmlns:a="http://schemas.openxmlformats.org/drawingml/2006/main">
              <a:ext uri="{FF2B5EF4-FFF2-40B4-BE49-F238E27FC236}">
                <a16:creationId xmlns:a16="http://schemas.microsoft.com/office/drawing/2014/main" id="{1656F235-5C79-4754-8E31-5A3E969C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55520"/>
            <a:ext cx="99666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850" b="1" u="none" spc="99">
                <a:solidFill>
                  <a:srgbClr val="5D6878"/>
                </a:solidFill>
                <a:latin typeface="Arial"/>
                <a:ea typeface="Arial"/>
                <a:cs typeface="Arial"/>
              </a:rPr>
              <a:t>FULLY CONNECTED 2026 • COREWEAVE.COM/FULLY-CONNECTED-2026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4" name="TextBox 35">
            <a:extLst xmlns:a="http://schemas.openxmlformats.org/drawingml/2006/main">
              <a:ext uri="{FF2B5EF4-FFF2-40B4-BE49-F238E27FC236}">
                <a16:creationId xmlns:a16="http://schemas.microsoft.com/office/drawing/2014/main" id="{25F5B6B8-6C53-4E98-A08F-4617483F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880" y="6455520"/>
            <a:ext cx="7620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</a:pPr>
            <a:r>
              <a:rPr sz="900" b="1" u="none">
                <a:solidFill>
                  <a:srgbClr val="5D6878"/>
                </a:solidFill>
                <a:latin typeface="Arial"/>
                <a:ea typeface="Arial"/>
                <a:cs typeface="Arial"/>
              </a:rPr>
              <a:t>21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576266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2026-09-02T16:24:22.4670000Z</dcterms:created>
  <dcterms:modified xsi:type="dcterms:W3CDTF">2026-09-02T16:24:22.4670000Z</dcterms:modified>
</coreProperties>
</file>